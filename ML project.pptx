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5143500" cx="9144000"/>
  <p:notesSz cx="6858000" cy="9144000"/>
  <p:embeddedFontLst>
    <p:embeddedFont>
      <p:font typeface="Nunito"/>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Nunito-regular.fnt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Nunito-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Nunito-boldItalic.fntdata"/><Relationship Id="rId30" Type="http://schemas.openxmlformats.org/officeDocument/2006/relationships/font" Target="fonts/Nunito-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b3b79b5715_0_10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b3b79b5715_0_10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b3b79b5715_0_10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b3b79b5715_0_10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b3b79b5715_0_10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b3b79b5715_0_10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b635392c10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b635392c10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b70d697b99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b70d697b99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b70d697b99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b70d697b99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b70d697b99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b70d697b99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b70d697b99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b70d697b99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b70d697b99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b70d697b99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b70d697b99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b70d697b99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b70d697b99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b70d697b99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b70d697b99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b70d697b99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b70d697b99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b70d697b99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b70d697b99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b70d697b99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b70d697b99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b70d697b99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b70d697b99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b70d697b99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b70d697b99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b70d697b99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b70d697b99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3b70d697b99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b70d697b99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b70d697b99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b70d697b99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3b70d697b99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b70d697b99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3b70d697b99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p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p5"/>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 name="Google Shape;62;p5"/>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3" name="Google Shape;63;p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p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7"/>
          <p:cNvSpPr txBox="1"/>
          <p:nvPr>
            <p:ph idx="1" type="body"/>
          </p:nvPr>
        </p:nvSpPr>
        <p:spPr>
          <a:xfrm>
            <a:off x="830700" y="2319050"/>
            <a:ext cx="3709200" cy="2119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6" name="Google Shape;76;p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p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9"/>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2" name="Google Shape;102;p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328025" y="4163500"/>
            <a:ext cx="7415100" cy="605100"/>
          </a:xfrm>
          <a:prstGeom prst="rect">
            <a:avLst/>
          </a:prstGeom>
        </p:spPr>
        <p:txBody>
          <a:bodyPr anchorCtr="0" anchor="b"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idx="1" type="body"/>
          </p:nvPr>
        </p:nvSpPr>
        <p:spPr>
          <a:xfrm>
            <a:off x="1385850" y="2863850"/>
            <a:ext cx="6372300" cy="6411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21" name="Google Shape;121;p1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3"/>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GB"/>
              <a:t>Fruit 360</a:t>
            </a:r>
            <a:endParaRPr/>
          </a:p>
        </p:txBody>
      </p:sp>
      <p:sp>
        <p:nvSpPr>
          <p:cNvPr id="129" name="Google Shape;129;p13"/>
          <p:cNvSpPr txBox="1"/>
          <p:nvPr>
            <p:ph idx="1" type="subTitle"/>
          </p:nvPr>
        </p:nvSpPr>
        <p:spPr>
          <a:xfrm>
            <a:off x="1858700" y="3413158"/>
            <a:ext cx="5361300" cy="522600"/>
          </a:xfrm>
          <a:prstGeom prst="rect">
            <a:avLst/>
          </a:prstGeom>
        </p:spPr>
        <p:txBody>
          <a:bodyPr anchorCtr="0" anchor="t" bIns="91425" lIns="91425" spcFirstLastPara="1" rIns="91425" wrap="square" tIns="91425">
            <a:noAutofit/>
          </a:bodyPr>
          <a:lstStyle/>
          <a:p>
            <a:pPr indent="0" lvl="0" marL="0" rtl="0" algn="ctr">
              <a:lnSpc>
                <a:spcPct val="80000"/>
              </a:lnSpc>
              <a:spcBef>
                <a:spcPts val="0"/>
              </a:spcBef>
              <a:spcAft>
                <a:spcPts val="0"/>
              </a:spcAft>
              <a:buSzPts val="605"/>
              <a:buNone/>
            </a:pPr>
            <a:r>
              <a:rPr lang="en-GB" sz="1180"/>
              <a:t>Ahmed Khaled Abdelnaby &gt;&gt;&gt; preprocessing</a:t>
            </a:r>
            <a:endParaRPr sz="1180"/>
          </a:p>
          <a:p>
            <a:pPr indent="0" lvl="0" marL="0" rtl="0" algn="ctr">
              <a:lnSpc>
                <a:spcPct val="80000"/>
              </a:lnSpc>
              <a:spcBef>
                <a:spcPts val="0"/>
              </a:spcBef>
              <a:spcAft>
                <a:spcPts val="0"/>
              </a:spcAft>
              <a:buSzPts val="605"/>
              <a:buNone/>
            </a:pPr>
            <a:r>
              <a:rPr lang="en-GB" sz="1180"/>
              <a:t>Sarah Mohamed Sherif &gt;&gt;&gt; Train-test split - PCA - Logistic Regression</a:t>
            </a:r>
            <a:endParaRPr sz="1180"/>
          </a:p>
          <a:p>
            <a:pPr indent="0" lvl="0" marL="0" rtl="0" algn="ctr">
              <a:lnSpc>
                <a:spcPct val="80000"/>
              </a:lnSpc>
              <a:spcBef>
                <a:spcPts val="0"/>
              </a:spcBef>
              <a:spcAft>
                <a:spcPts val="0"/>
              </a:spcAft>
              <a:buSzPts val="605"/>
              <a:buNone/>
            </a:pPr>
            <a:r>
              <a:rPr lang="en-GB" sz="1180"/>
              <a:t>Omar Essam Saber &gt;&gt;&gt; K-Means - Visualization - Testing</a:t>
            </a:r>
            <a:endParaRPr sz="118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rPr b="1" lang="en-GB" sz="1600">
                <a:solidFill>
                  <a:schemeClr val="accent2"/>
                </a:solidFill>
                <a:latin typeface="Calibri"/>
                <a:ea typeface="Calibri"/>
                <a:cs typeface="Calibri"/>
                <a:sym typeface="Calibri"/>
              </a:rPr>
              <a:t>1. Introduction</a:t>
            </a:r>
            <a:endParaRPr b="1" sz="3300">
              <a:solidFill>
                <a:schemeClr val="accent2"/>
              </a:solidFill>
            </a:endParaRPr>
          </a:p>
        </p:txBody>
      </p:sp>
      <p:sp>
        <p:nvSpPr>
          <p:cNvPr id="135" name="Google Shape;135;p1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rPr lang="en-GB"/>
              <a:t>The main objective of this project is to explore how traditional machine learning algorithms perform on image data after suitable preprocessing. Specifically, the project investigates the use of Logistic Regression as a supervised classification method and K-Means as an unsupervised clustering method on a subset of the Fruits-360 image dataset.</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5"/>
          <p:cNvSpPr txBox="1"/>
          <p:nvPr>
            <p:ph type="title"/>
          </p:nvPr>
        </p:nvSpPr>
        <p:spPr>
          <a:xfrm>
            <a:off x="511525" y="1131375"/>
            <a:ext cx="7908600" cy="6855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rPr b="1" lang="en-GB" sz="1700">
                <a:solidFill>
                  <a:schemeClr val="accent2"/>
                </a:solidFill>
                <a:latin typeface="Calibri"/>
                <a:ea typeface="Calibri"/>
                <a:cs typeface="Calibri"/>
                <a:sym typeface="Calibri"/>
              </a:rPr>
              <a:t>2.</a:t>
            </a:r>
            <a:r>
              <a:rPr b="1" lang="en-GB" sz="1700">
                <a:solidFill>
                  <a:schemeClr val="accent2"/>
                </a:solidFill>
                <a:latin typeface="Calibri"/>
                <a:ea typeface="Calibri"/>
                <a:cs typeface="Calibri"/>
                <a:sym typeface="Calibri"/>
              </a:rPr>
              <a:t>Dataset Description</a:t>
            </a:r>
            <a:endParaRPr b="1" sz="3400">
              <a:solidFill>
                <a:schemeClr val="accent2"/>
              </a:solidFill>
            </a:endParaRPr>
          </a:p>
        </p:txBody>
      </p:sp>
      <p:sp>
        <p:nvSpPr>
          <p:cNvPr id="141" name="Google Shape;141;p15"/>
          <p:cNvSpPr txBox="1"/>
          <p:nvPr>
            <p:ph idx="1" type="body"/>
          </p:nvPr>
        </p:nvSpPr>
        <p:spPr>
          <a:xfrm>
            <a:off x="329200" y="1878450"/>
            <a:ext cx="8335200" cy="24480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605"/>
              <a:buNone/>
            </a:pPr>
            <a:r>
              <a:rPr lang="en-GB" sz="1315"/>
              <a:t>The project uses the Fruits-360 dataset, designed for image classification in controlled environments.</a:t>
            </a:r>
            <a:endParaRPr sz="1315"/>
          </a:p>
          <a:p>
            <a:pPr indent="0" lvl="0" marL="0" rtl="0" algn="l">
              <a:lnSpc>
                <a:spcPct val="105000"/>
              </a:lnSpc>
              <a:spcBef>
                <a:spcPts val="1200"/>
              </a:spcBef>
              <a:spcAft>
                <a:spcPts val="0"/>
              </a:spcAft>
              <a:buSzPts val="605"/>
              <a:buNone/>
            </a:pPr>
            <a:r>
              <a:t/>
            </a:r>
            <a:endParaRPr sz="1315"/>
          </a:p>
          <a:p>
            <a:pPr indent="0" lvl="0" marL="0" rtl="0" algn="l">
              <a:lnSpc>
                <a:spcPct val="105000"/>
              </a:lnSpc>
              <a:spcBef>
                <a:spcPts val="1200"/>
              </a:spcBef>
              <a:spcAft>
                <a:spcPts val="0"/>
              </a:spcAft>
              <a:buSzPts val="605"/>
              <a:buNone/>
            </a:pPr>
            <a:r>
              <a:rPr lang="en-GB" sz="1315"/>
              <a:t>All images have a fixed resolution of 100×100 pixels with a plain background to emphasize fruit characteristics.</a:t>
            </a:r>
            <a:endParaRPr sz="1315"/>
          </a:p>
          <a:p>
            <a:pPr indent="0" lvl="0" marL="0" rtl="0" algn="l">
              <a:lnSpc>
                <a:spcPct val="105000"/>
              </a:lnSpc>
              <a:spcBef>
                <a:spcPts val="1200"/>
              </a:spcBef>
              <a:spcAft>
                <a:spcPts val="0"/>
              </a:spcAft>
              <a:buSzPts val="605"/>
              <a:buNone/>
            </a:pPr>
            <a:r>
              <a:t/>
            </a:r>
            <a:endParaRPr sz="1315"/>
          </a:p>
          <a:p>
            <a:pPr indent="0" lvl="0" marL="0" rtl="0" algn="l">
              <a:lnSpc>
                <a:spcPct val="105000"/>
              </a:lnSpc>
              <a:spcBef>
                <a:spcPts val="1200"/>
              </a:spcBef>
              <a:spcAft>
                <a:spcPts val="0"/>
              </a:spcAft>
              <a:buSzPts val="605"/>
              <a:buNone/>
            </a:pPr>
            <a:r>
              <a:rPr lang="en-GB" sz="1315"/>
              <a:t>To reduce computational complexity and improve class separability, the study focuses on five selected fruit classes.</a:t>
            </a:r>
            <a:endParaRPr sz="1315"/>
          </a:p>
          <a:p>
            <a:pPr indent="0" lvl="0" marL="0" rtl="0" algn="l">
              <a:lnSpc>
                <a:spcPct val="105000"/>
              </a:lnSpc>
              <a:spcBef>
                <a:spcPts val="1200"/>
              </a:spcBef>
              <a:spcAft>
                <a:spcPts val="0"/>
              </a:spcAft>
              <a:buSzPts val="605"/>
              <a:buNone/>
            </a:pPr>
            <a:r>
              <a:t/>
            </a:r>
            <a:endParaRPr sz="1315"/>
          </a:p>
          <a:p>
            <a:pPr indent="0" lvl="0" marL="0" rtl="0" algn="l">
              <a:lnSpc>
                <a:spcPct val="105000"/>
              </a:lnSpc>
              <a:spcBef>
                <a:spcPts val="1200"/>
              </a:spcBef>
              <a:spcAft>
                <a:spcPts val="0"/>
              </a:spcAft>
              <a:buSzPts val="605"/>
              <a:buNone/>
            </a:pPr>
            <a:r>
              <a:rPr lang="en-GB" sz="1315"/>
              <a:t>Limiting the number of classes helps classical machine learning models distinguish between categories more effectively.</a:t>
            </a:r>
            <a:endParaRPr sz="1315"/>
          </a:p>
          <a:p>
            <a:pPr indent="0" lvl="0" marL="0" rtl="0" algn="l">
              <a:lnSpc>
                <a:spcPct val="105000"/>
              </a:lnSpc>
              <a:spcBef>
                <a:spcPts val="1200"/>
              </a:spcBef>
              <a:spcAft>
                <a:spcPts val="0"/>
              </a:spcAft>
              <a:buSzPts val="605"/>
              <a:buNone/>
            </a:pPr>
            <a:r>
              <a:t/>
            </a:r>
            <a:endParaRPr sz="1315"/>
          </a:p>
          <a:p>
            <a:pPr indent="0" lvl="0" marL="0" rtl="0" algn="l">
              <a:lnSpc>
                <a:spcPct val="105000"/>
              </a:lnSpc>
              <a:spcBef>
                <a:spcPts val="1200"/>
              </a:spcBef>
              <a:spcAft>
                <a:spcPts val="1200"/>
              </a:spcAft>
              <a:buSzPts val="605"/>
              <a:buNone/>
            </a:pPr>
            <a:r>
              <a:t/>
            </a:r>
            <a:endParaRPr sz="1315"/>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rPr b="1" lang="en-GB" sz="1500">
                <a:solidFill>
                  <a:schemeClr val="accent2"/>
                </a:solidFill>
                <a:latin typeface="Calibri"/>
                <a:ea typeface="Calibri"/>
                <a:cs typeface="Calibri"/>
                <a:sym typeface="Calibri"/>
              </a:rPr>
              <a:t>3.</a:t>
            </a:r>
            <a:r>
              <a:rPr b="1" lang="en-GB" sz="1500">
                <a:solidFill>
                  <a:schemeClr val="accent2"/>
                </a:solidFill>
                <a:latin typeface="Calibri"/>
                <a:ea typeface="Calibri"/>
                <a:cs typeface="Calibri"/>
                <a:sym typeface="Calibri"/>
              </a:rPr>
              <a:t>Problem Statement and Objectives</a:t>
            </a:r>
            <a:endParaRPr b="1" sz="3200">
              <a:solidFill>
                <a:schemeClr val="accent2"/>
              </a:solidFill>
            </a:endParaRPr>
          </a:p>
        </p:txBody>
      </p:sp>
      <p:sp>
        <p:nvSpPr>
          <p:cNvPr id="147" name="Google Shape;147;p16"/>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Problem Statement: Classical machine learning algorithms are not inherently designed to process high-dimensional raw image data directly. Therefore, it is essential to investigate whether these algorithms can effectively classify images when they are transformed into numerical feature vectors through proper engineering.  </a:t>
            </a:r>
            <a:endParaRPr/>
          </a:p>
          <a:p>
            <a:pPr indent="0" lvl="0" marL="0" rtl="0" algn="l">
              <a:spcBef>
                <a:spcPts val="1200"/>
              </a:spcBef>
              <a:spcAft>
                <a:spcPts val="0"/>
              </a:spcAft>
              <a:buNone/>
            </a:pPr>
            <a:r>
              <a:rPr lang="en-GB"/>
              <a:t>​Objectives: The primary goals are to preprocess the image data into a suitable format, apply Principal Component Analysis (PCA) for dimensionality reduction, and evaluate the performance of both supervised (Logistic Regression) and unsupervised (K-Means) learning models</a:t>
            </a:r>
            <a:endParaRPr/>
          </a:p>
          <a:p>
            <a:pPr indent="0" lvl="0" marL="0" rtl="0" algn="l">
              <a:spcBef>
                <a:spcPts val="12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7"/>
          <p:cNvSpPr txBox="1"/>
          <p:nvPr>
            <p:ph type="title"/>
          </p:nvPr>
        </p:nvSpPr>
        <p:spPr>
          <a:xfrm>
            <a:off x="819150" y="53495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4.</a:t>
            </a:r>
            <a:r>
              <a:rPr lang="en-GB"/>
              <a:t>Data Preprocessing</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53" name="Google Shape;153;p17"/>
          <p:cNvSpPr txBox="1"/>
          <p:nvPr>
            <p:ph idx="1" type="body"/>
          </p:nvPr>
        </p:nvSpPr>
        <p:spPr>
          <a:xfrm>
            <a:off x="707500" y="1521775"/>
            <a:ext cx="7934400" cy="31380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440"/>
              <a:buNone/>
            </a:pPr>
            <a:r>
              <a:rPr lang="en-GB" sz="1220"/>
              <a:t>Images are converted to grayscale to reduce complexity and focus on intensity features.</a:t>
            </a:r>
            <a:endParaRPr sz="1220"/>
          </a:p>
          <a:p>
            <a:pPr indent="0" lvl="0" marL="0" rtl="0" algn="l">
              <a:lnSpc>
                <a:spcPct val="105000"/>
              </a:lnSpc>
              <a:spcBef>
                <a:spcPts val="1200"/>
              </a:spcBef>
              <a:spcAft>
                <a:spcPts val="0"/>
              </a:spcAft>
              <a:buSzPts val="440"/>
              <a:buNone/>
            </a:pPr>
            <a:r>
              <a:t/>
            </a:r>
            <a:endParaRPr sz="1220"/>
          </a:p>
          <a:p>
            <a:pPr indent="0" lvl="0" marL="0" rtl="0" algn="l">
              <a:lnSpc>
                <a:spcPct val="105000"/>
              </a:lnSpc>
              <a:spcBef>
                <a:spcPts val="1200"/>
              </a:spcBef>
              <a:spcAft>
                <a:spcPts val="0"/>
              </a:spcAft>
              <a:buSzPts val="440"/>
              <a:buNone/>
            </a:pPr>
            <a:r>
              <a:rPr lang="en-GB" sz="1220"/>
              <a:t>All images are resized to 100×100 pixels for consistency.</a:t>
            </a:r>
            <a:endParaRPr sz="1220"/>
          </a:p>
          <a:p>
            <a:pPr indent="0" lvl="0" marL="0" rtl="0" algn="l">
              <a:lnSpc>
                <a:spcPct val="105000"/>
              </a:lnSpc>
              <a:spcBef>
                <a:spcPts val="1200"/>
              </a:spcBef>
              <a:spcAft>
                <a:spcPts val="0"/>
              </a:spcAft>
              <a:buSzPts val="440"/>
              <a:buNone/>
            </a:pPr>
            <a:r>
              <a:t/>
            </a:r>
            <a:endParaRPr sz="1220"/>
          </a:p>
          <a:p>
            <a:pPr indent="0" lvl="0" marL="0" rtl="0" algn="l">
              <a:lnSpc>
                <a:spcPct val="105000"/>
              </a:lnSpc>
              <a:spcBef>
                <a:spcPts val="1200"/>
              </a:spcBef>
              <a:spcAft>
                <a:spcPts val="0"/>
              </a:spcAft>
              <a:buSzPts val="440"/>
              <a:buNone/>
            </a:pPr>
            <a:r>
              <a:rPr lang="en-GB" sz="1220"/>
              <a:t>Each image is flattened into a 1D feature vector of 10,000 features.</a:t>
            </a:r>
            <a:endParaRPr sz="1220"/>
          </a:p>
          <a:p>
            <a:pPr indent="0" lvl="0" marL="0" rtl="0" algn="l">
              <a:lnSpc>
                <a:spcPct val="105000"/>
              </a:lnSpc>
              <a:spcBef>
                <a:spcPts val="1200"/>
              </a:spcBef>
              <a:spcAft>
                <a:spcPts val="0"/>
              </a:spcAft>
              <a:buSzPts val="440"/>
              <a:buNone/>
            </a:pPr>
            <a:r>
              <a:t/>
            </a:r>
            <a:endParaRPr sz="1220"/>
          </a:p>
          <a:p>
            <a:pPr indent="0" lvl="0" marL="0" rtl="0" algn="l">
              <a:lnSpc>
                <a:spcPct val="105000"/>
              </a:lnSpc>
              <a:spcBef>
                <a:spcPts val="1200"/>
              </a:spcBef>
              <a:spcAft>
                <a:spcPts val="0"/>
              </a:spcAft>
              <a:buSzPts val="440"/>
              <a:buNone/>
            </a:pPr>
            <a:r>
              <a:rPr lang="en-GB" sz="1220"/>
              <a:t>Pixel values are normalized to the range [0, 1].</a:t>
            </a:r>
            <a:endParaRPr sz="1220"/>
          </a:p>
          <a:p>
            <a:pPr indent="0" lvl="0" marL="0" rtl="0" algn="l">
              <a:lnSpc>
                <a:spcPct val="105000"/>
              </a:lnSpc>
              <a:spcBef>
                <a:spcPts val="1200"/>
              </a:spcBef>
              <a:spcAft>
                <a:spcPts val="0"/>
              </a:spcAft>
              <a:buSzPts val="440"/>
              <a:buNone/>
            </a:pPr>
            <a:r>
              <a:t/>
            </a:r>
            <a:endParaRPr sz="1220"/>
          </a:p>
          <a:p>
            <a:pPr indent="0" lvl="0" marL="0" rtl="0" algn="l">
              <a:lnSpc>
                <a:spcPct val="105000"/>
              </a:lnSpc>
              <a:spcBef>
                <a:spcPts val="1200"/>
              </a:spcBef>
              <a:spcAft>
                <a:spcPts val="0"/>
              </a:spcAft>
              <a:buSzPts val="440"/>
              <a:buNone/>
            </a:pPr>
            <a:r>
              <a:rPr lang="en-GB" sz="1220"/>
              <a:t>The dataset is split into 80% training and 20% testing using stratified sampling.</a:t>
            </a:r>
            <a:endParaRPr sz="1220"/>
          </a:p>
          <a:p>
            <a:pPr indent="0" lvl="0" marL="0" rtl="0" algn="l">
              <a:lnSpc>
                <a:spcPct val="105000"/>
              </a:lnSpc>
              <a:spcBef>
                <a:spcPts val="1200"/>
              </a:spcBef>
              <a:spcAft>
                <a:spcPts val="1200"/>
              </a:spcAft>
              <a:buSzPts val="440"/>
              <a:buNone/>
            </a:pPr>
            <a:r>
              <a:t/>
            </a:r>
            <a:endParaRPr sz="122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8"/>
          <p:cNvSpPr txBox="1"/>
          <p:nvPr>
            <p:ph type="title"/>
          </p:nvPr>
        </p:nvSpPr>
        <p:spPr>
          <a:xfrm>
            <a:off x="819150" y="53495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4.2</a:t>
            </a:r>
            <a:r>
              <a:rPr lang="en-GB"/>
              <a:t>Datasets and Data Preparation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59" name="Google Shape;159;p18"/>
          <p:cNvSpPr txBox="1"/>
          <p:nvPr>
            <p:ph idx="1" type="body"/>
          </p:nvPr>
        </p:nvSpPr>
        <p:spPr>
          <a:xfrm>
            <a:off x="707500" y="1521775"/>
            <a:ext cx="7934400" cy="31380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1200"/>
              </a:spcAft>
              <a:buSzPts val="440"/>
              <a:buNone/>
            </a:pPr>
            <a:r>
              <a:rPr lang="en-GB" sz="1520"/>
              <a:t>The performance of any Natural Language Processing (NLP) system depends heavily on the quality of the training data and the efficiency of the preprocessing stage. Since our system integrates text summarization, paraphrasing, and plagiarism detection, we utilized a combination of benchmark datasets and a streamlined data preparation pipeline.  </a:t>
            </a:r>
            <a:endParaRPr sz="152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9"/>
          <p:cNvSpPr txBox="1"/>
          <p:nvPr>
            <p:ph type="title"/>
          </p:nvPr>
        </p:nvSpPr>
        <p:spPr>
          <a:xfrm>
            <a:off x="819150" y="53495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​4.2.1 Core Datasets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65" name="Google Shape;165;p19"/>
          <p:cNvSpPr txBox="1"/>
          <p:nvPr>
            <p:ph idx="1" type="body"/>
          </p:nvPr>
        </p:nvSpPr>
        <p:spPr>
          <a:xfrm>
            <a:off x="707500" y="1521775"/>
            <a:ext cx="7934400" cy="31380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GB" sz="1520"/>
              <a:t>​Instead of training from scratch, the system leverages transformer models fine-tuned on the following large-scale datasets:  </a:t>
            </a:r>
            <a:endParaRPr sz="1520"/>
          </a:p>
          <a:p>
            <a:pPr indent="0" lvl="0" marL="0" rtl="0" algn="l">
              <a:lnSpc>
                <a:spcPct val="105000"/>
              </a:lnSpc>
              <a:spcBef>
                <a:spcPts val="1200"/>
              </a:spcBef>
              <a:spcAft>
                <a:spcPts val="0"/>
              </a:spcAft>
              <a:buNone/>
            </a:pPr>
            <a:r>
              <a:rPr lang="en-GB" sz="1520"/>
              <a:t>​CNN/DailyMail Dataset: This corpus, containing over 300,000 news articles with human-written summaries, is used to train the abstractive summarization module to identify and condense key information.  </a:t>
            </a:r>
            <a:endParaRPr sz="1520"/>
          </a:p>
          <a:p>
            <a:pPr indent="0" lvl="0" marL="0" rtl="0" algn="l">
              <a:lnSpc>
                <a:spcPct val="105000"/>
              </a:lnSpc>
              <a:spcBef>
                <a:spcPts val="1200"/>
              </a:spcBef>
              <a:spcAft>
                <a:spcPts val="0"/>
              </a:spcAft>
              <a:buNone/>
            </a:pPr>
            <a:r>
              <a:rPr lang="en-GB" sz="1520"/>
              <a:t>​Quora Question Pairs (QQP): Featuring hundreds of thousands of semantically equivalent pairs, this dataset enables the paraphrasing engine to generate diverse lexical representations while maintaining the original meaning.  </a:t>
            </a:r>
            <a:endParaRPr sz="1520"/>
          </a:p>
          <a:p>
            <a:pPr indent="0" lvl="0" marL="0" rtl="0" algn="l">
              <a:lnSpc>
                <a:spcPct val="105000"/>
              </a:lnSpc>
              <a:spcBef>
                <a:spcPts val="1200"/>
              </a:spcBef>
              <a:spcAft>
                <a:spcPts val="0"/>
              </a:spcAft>
              <a:buNone/>
            </a:pPr>
            <a:r>
              <a:rPr lang="en-GB" sz="1520"/>
              <a:t>​WikiText-103: Extracted from high-quality Wikipedia articles, this dataset serves as a reference corpus to ensure linguistic consistency and support semantic comparisons within the plagiarism detection module.  </a:t>
            </a:r>
            <a:endParaRPr sz="1520"/>
          </a:p>
          <a:p>
            <a:pPr indent="0" lvl="0" marL="0" rtl="0" algn="l">
              <a:lnSpc>
                <a:spcPct val="105000"/>
              </a:lnSpc>
              <a:spcBef>
                <a:spcPts val="1200"/>
              </a:spcBef>
              <a:spcAft>
                <a:spcPts val="1200"/>
              </a:spcAft>
              <a:buSzPts val="440"/>
              <a:buNone/>
            </a:pPr>
            <a:r>
              <a:t/>
            </a:r>
            <a:endParaRPr sz="152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0"/>
          <p:cNvSpPr txBox="1"/>
          <p:nvPr>
            <p:ph type="title"/>
          </p:nvPr>
        </p:nvSpPr>
        <p:spPr>
          <a:xfrm>
            <a:off x="819150" y="53495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​4.2.2 Data Preparation and Cleaning Pipeline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71" name="Google Shape;171;p20"/>
          <p:cNvSpPr txBox="1"/>
          <p:nvPr>
            <p:ph idx="1" type="body"/>
          </p:nvPr>
        </p:nvSpPr>
        <p:spPr>
          <a:xfrm>
            <a:off x="700075" y="1305900"/>
            <a:ext cx="7934400" cy="35772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GB" sz="1520"/>
              <a:t>To ensure the input text is suitable for NLP processing, it passes through a multi-step cleaning pipeline:  </a:t>
            </a:r>
            <a:endParaRPr sz="1520"/>
          </a:p>
          <a:p>
            <a:pPr indent="0" lvl="0" marL="0" rtl="0" algn="l">
              <a:lnSpc>
                <a:spcPct val="105000"/>
              </a:lnSpc>
              <a:spcBef>
                <a:spcPts val="1200"/>
              </a:spcBef>
              <a:spcAft>
                <a:spcPts val="0"/>
              </a:spcAft>
              <a:buNone/>
            </a:pPr>
            <a:r>
              <a:rPr lang="en-GB" sz="1520"/>
              <a:t>​Text Sanitization: Using regular expressions to eliminate noise, such as HTML tags and redundant whitespace.  </a:t>
            </a:r>
            <a:endParaRPr sz="1520"/>
          </a:p>
          <a:p>
            <a:pPr indent="0" lvl="0" marL="0" rtl="0" algn="l">
              <a:lnSpc>
                <a:spcPct val="105000"/>
              </a:lnSpc>
              <a:spcBef>
                <a:spcPts val="1200"/>
              </a:spcBef>
              <a:spcAft>
                <a:spcPts val="0"/>
              </a:spcAft>
              <a:buNone/>
            </a:pPr>
            <a:r>
              <a:rPr lang="en-GB" sz="1520"/>
              <a:t>​Case Normalization: Converting all text to lowercase to maintain a consistent vocabulary.  </a:t>
            </a:r>
            <a:endParaRPr sz="1520"/>
          </a:p>
          <a:p>
            <a:pPr indent="0" lvl="0" marL="0" rtl="0" algn="l">
              <a:lnSpc>
                <a:spcPct val="105000"/>
              </a:lnSpc>
              <a:spcBef>
                <a:spcPts val="1200"/>
              </a:spcBef>
              <a:spcAft>
                <a:spcPts val="0"/>
              </a:spcAft>
              <a:buNone/>
            </a:pPr>
            <a:r>
              <a:rPr lang="en-GB" sz="1520"/>
              <a:t>​Contraction Expansion: Expanding words like "don't" to "do not" to preserve the formal tone required for academic text processing.  </a:t>
            </a:r>
            <a:endParaRPr sz="1520"/>
          </a:p>
          <a:p>
            <a:pPr indent="0" lvl="0" marL="0" rtl="0" algn="l">
              <a:lnSpc>
                <a:spcPct val="105000"/>
              </a:lnSpc>
              <a:spcBef>
                <a:spcPts val="1200"/>
              </a:spcBef>
              <a:spcAft>
                <a:spcPts val="0"/>
              </a:spcAft>
              <a:buNone/>
            </a:pPr>
            <a:r>
              <a:rPr lang="en-GB" sz="1520"/>
              <a:t>​Tokenization: Applying subword tokenization (e.g., BPE) to transform cleaned text into numerical tokens compatible with transformer architectures.  </a:t>
            </a:r>
            <a:endParaRPr sz="1520"/>
          </a:p>
          <a:p>
            <a:pPr indent="0" lvl="0" marL="0" rtl="0" algn="l">
              <a:lnSpc>
                <a:spcPct val="105000"/>
              </a:lnSpc>
              <a:spcBef>
                <a:spcPts val="1200"/>
              </a:spcBef>
              <a:spcAft>
                <a:spcPts val="0"/>
              </a:spcAft>
              <a:buNone/>
            </a:pPr>
            <a:r>
              <a:rPr lang="en-GB" sz="1520"/>
              <a:t>​Sequence Handling: Truncating long sequences and padding shorter ones to ensure uniform input dimensions for stable model inference.</a:t>
            </a:r>
            <a:endParaRPr sz="1520"/>
          </a:p>
          <a:p>
            <a:pPr indent="0" lvl="0" marL="0" rtl="0" algn="l">
              <a:lnSpc>
                <a:spcPct val="105000"/>
              </a:lnSpc>
              <a:spcBef>
                <a:spcPts val="1200"/>
              </a:spcBef>
              <a:spcAft>
                <a:spcPts val="1200"/>
              </a:spcAft>
              <a:buSzPts val="440"/>
              <a:buNone/>
            </a:pPr>
            <a:r>
              <a:t/>
            </a:r>
            <a:endParaRPr sz="152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1"/>
          <p:cNvSpPr txBox="1"/>
          <p:nvPr>
            <p:ph type="title"/>
          </p:nvPr>
        </p:nvSpPr>
        <p:spPr>
          <a:xfrm>
            <a:off x="819150" y="53495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baseline="30000" lang="en-GB" sz="3111"/>
              <a:t>5. Dimensionality Reduction using PCA</a:t>
            </a:r>
            <a:endParaRPr b="1" baseline="30000" sz="3111"/>
          </a:p>
          <a:p>
            <a:pPr indent="0" lvl="0" marL="0" rtl="0" algn="l">
              <a:spcBef>
                <a:spcPts val="0"/>
              </a:spcBef>
              <a:spcAft>
                <a:spcPts val="0"/>
              </a:spcAft>
              <a:buNone/>
            </a:pPr>
            <a:r>
              <a:t/>
            </a:r>
            <a:endParaRPr baseline="30000"/>
          </a:p>
          <a:p>
            <a:pPr indent="0" lvl="0" marL="0" rtl="0" algn="l">
              <a:spcBef>
                <a:spcPts val="0"/>
              </a:spcBef>
              <a:spcAft>
                <a:spcPts val="0"/>
              </a:spcAft>
              <a:buNone/>
            </a:pPr>
            <a:r>
              <a:t/>
            </a:r>
            <a:endParaRPr baseline="30000"/>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77" name="Google Shape;177;p21"/>
          <p:cNvSpPr txBox="1"/>
          <p:nvPr>
            <p:ph idx="1" type="body"/>
          </p:nvPr>
        </p:nvSpPr>
        <p:spPr>
          <a:xfrm>
            <a:off x="700075" y="1305900"/>
            <a:ext cx="7934400" cy="35772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GB" sz="1520"/>
              <a:t>In this project, each image is represented as a flattened vector of 10,000 pixel features after preprocessing. Such high-dimensional data poses a significant challenge for classical machine learning algorithms, leading to increased computational cost and the risk of overfitting, a phenomenon commonly referred to as the curse of dimensionality.</a:t>
            </a:r>
            <a:endParaRPr sz="1520"/>
          </a:p>
          <a:p>
            <a:pPr indent="0" lvl="0" marL="0" rtl="0" algn="l">
              <a:lnSpc>
                <a:spcPct val="105000"/>
              </a:lnSpc>
              <a:spcBef>
                <a:spcPts val="1200"/>
              </a:spcBef>
              <a:spcAft>
                <a:spcPts val="0"/>
              </a:spcAft>
              <a:buNone/>
            </a:pPr>
            <a:r>
              <a:t/>
            </a:r>
            <a:endParaRPr sz="1520"/>
          </a:p>
          <a:p>
            <a:pPr indent="0" lvl="0" marL="0" rtl="0" algn="l">
              <a:lnSpc>
                <a:spcPct val="105000"/>
              </a:lnSpc>
              <a:spcBef>
                <a:spcPts val="1200"/>
              </a:spcBef>
              <a:spcAft>
                <a:spcPts val="0"/>
              </a:spcAft>
              <a:buNone/>
            </a:pPr>
            <a:r>
              <a:rPr lang="en-GB" sz="1520"/>
              <a:t>To address this issue, Principal Component Analysis (PCA) was applied as a dimensionality reduction technique. PCA transforms the original feature space into a new set of uncorrelated components, ordered by the amount of variance they capture from the data. By retaining only the most informative components, PCA effectively removes redundant and noisy features while preserving the essential structure of the data.</a:t>
            </a:r>
            <a:endParaRPr sz="1520"/>
          </a:p>
          <a:p>
            <a:pPr indent="0" lvl="0" marL="0" rtl="0" algn="l">
              <a:lnSpc>
                <a:spcPct val="105000"/>
              </a:lnSpc>
              <a:spcBef>
                <a:spcPts val="1200"/>
              </a:spcBef>
              <a:spcAft>
                <a:spcPts val="1200"/>
              </a:spcAft>
              <a:buSzPts val="440"/>
              <a:buNone/>
            </a:pPr>
            <a:r>
              <a:t/>
            </a:r>
            <a:endParaRPr sz="152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2"/>
          <p:cNvSpPr txBox="1"/>
          <p:nvPr>
            <p:ph type="title"/>
          </p:nvPr>
        </p:nvSpPr>
        <p:spPr>
          <a:xfrm>
            <a:off x="819150" y="53495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baseline="30000" lang="en-GB" sz="3111"/>
              <a:t>5. Dimensionality Reduction using PCA</a:t>
            </a:r>
            <a:endParaRPr b="1" baseline="30000" sz="3111"/>
          </a:p>
          <a:p>
            <a:pPr indent="0" lvl="0" marL="0" rtl="0" algn="l">
              <a:spcBef>
                <a:spcPts val="0"/>
              </a:spcBef>
              <a:spcAft>
                <a:spcPts val="0"/>
              </a:spcAft>
              <a:buNone/>
            </a:pPr>
            <a:r>
              <a:t/>
            </a:r>
            <a:endParaRPr baseline="30000"/>
          </a:p>
          <a:p>
            <a:pPr indent="0" lvl="0" marL="0" rtl="0" algn="l">
              <a:spcBef>
                <a:spcPts val="0"/>
              </a:spcBef>
              <a:spcAft>
                <a:spcPts val="0"/>
              </a:spcAft>
              <a:buNone/>
            </a:pPr>
            <a:r>
              <a:t/>
            </a:r>
            <a:endParaRPr baseline="30000"/>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83" name="Google Shape;183;p22"/>
          <p:cNvSpPr txBox="1"/>
          <p:nvPr>
            <p:ph idx="1" type="body"/>
          </p:nvPr>
        </p:nvSpPr>
        <p:spPr>
          <a:xfrm>
            <a:off x="707525" y="1052825"/>
            <a:ext cx="7934400" cy="35772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GB" sz="1320"/>
              <a:t>In this project, PCA was configured to retain 95% of the total variance, which resulted in a substantial reduction of the feature space from 10,000 to 137 features. This reduction significantly improved computational efficiency and enhanced model stability without sacrificing meaningful information.</a:t>
            </a:r>
            <a:endParaRPr sz="1320"/>
          </a:p>
          <a:p>
            <a:pPr indent="0" lvl="0" marL="0" rtl="0" algn="l">
              <a:lnSpc>
                <a:spcPct val="105000"/>
              </a:lnSpc>
              <a:spcBef>
                <a:spcPts val="1200"/>
              </a:spcBef>
              <a:spcAft>
                <a:spcPts val="0"/>
              </a:spcAft>
              <a:buNone/>
            </a:pPr>
            <a:r>
              <a:t/>
            </a:r>
            <a:endParaRPr sz="1320"/>
          </a:p>
          <a:p>
            <a:pPr indent="0" lvl="0" marL="0" rtl="0" algn="l">
              <a:lnSpc>
                <a:spcPct val="105000"/>
              </a:lnSpc>
              <a:spcBef>
                <a:spcPts val="1200"/>
              </a:spcBef>
              <a:spcAft>
                <a:spcPts val="0"/>
              </a:spcAft>
              <a:buNone/>
            </a:pPr>
            <a:r>
              <a:rPr lang="en-GB" sz="1320"/>
              <a:t>The application of PCA had a direct impact on model performance. For Logistic Regression, PCA improved robustness and generalization by reducing sensitivity to noise, resulting in a high classification accuracy of approximately 99.8% with only minimal information loss. For K-Means clustering, PCA was essential in making distance-based clustering meaningful by projecting the data into a lower-dimensional space, which led to a reasonable Silhouette Score (~0.28) for image data.</a:t>
            </a:r>
            <a:endParaRPr sz="1320"/>
          </a:p>
          <a:p>
            <a:pPr indent="0" lvl="0" marL="0" rtl="0" algn="l">
              <a:lnSpc>
                <a:spcPct val="105000"/>
              </a:lnSpc>
              <a:spcBef>
                <a:spcPts val="1200"/>
              </a:spcBef>
              <a:spcAft>
                <a:spcPts val="0"/>
              </a:spcAft>
              <a:buNone/>
            </a:pPr>
            <a:r>
              <a:t/>
            </a:r>
            <a:endParaRPr sz="1320"/>
          </a:p>
          <a:p>
            <a:pPr indent="0" lvl="0" marL="0" rtl="0" algn="l">
              <a:lnSpc>
                <a:spcPct val="105000"/>
              </a:lnSpc>
              <a:spcBef>
                <a:spcPts val="1200"/>
              </a:spcBef>
              <a:spcAft>
                <a:spcPts val="0"/>
              </a:spcAft>
              <a:buNone/>
            </a:pPr>
            <a:r>
              <a:rPr lang="en-GB" sz="1320"/>
              <a:t>Overall, PCA played a crucial role in enabling classical machine learning models to effectively handle image data in this project, demonstrating the importance of dimensionality reduction when working with high-dimensional visual features.</a:t>
            </a:r>
            <a:endParaRPr sz="1320"/>
          </a:p>
          <a:p>
            <a:pPr indent="0" lvl="0" marL="0" rtl="0" algn="l">
              <a:lnSpc>
                <a:spcPct val="105000"/>
              </a:lnSpc>
              <a:spcBef>
                <a:spcPts val="1200"/>
              </a:spcBef>
              <a:spcAft>
                <a:spcPts val="1200"/>
              </a:spcAft>
              <a:buSzPts val="440"/>
              <a:buNone/>
            </a:pPr>
            <a:r>
              <a:t/>
            </a:r>
            <a:endParaRPr sz="132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3"/>
          <p:cNvSpPr txBox="1"/>
          <p:nvPr>
            <p:ph type="title"/>
          </p:nvPr>
        </p:nvSpPr>
        <p:spPr>
          <a:xfrm>
            <a:off x="819150" y="53495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baseline="30000" lang="en-GB" sz="3111"/>
              <a:t>6. Logistic Regression (Supervised Learning)</a:t>
            </a:r>
            <a:endParaRPr b="1" baseline="30000" sz="3111"/>
          </a:p>
          <a:p>
            <a:pPr indent="0" lvl="0" marL="0" rtl="0" algn="l">
              <a:spcBef>
                <a:spcPts val="0"/>
              </a:spcBef>
              <a:spcAft>
                <a:spcPts val="0"/>
              </a:spcAft>
              <a:buNone/>
            </a:pPr>
            <a:r>
              <a:t/>
            </a:r>
            <a:endParaRPr b="1" baseline="30000" sz="3111"/>
          </a:p>
          <a:p>
            <a:pPr indent="0" lvl="0" marL="0" rtl="0" algn="l">
              <a:spcBef>
                <a:spcPts val="0"/>
              </a:spcBef>
              <a:spcAft>
                <a:spcPts val="0"/>
              </a:spcAft>
              <a:buNone/>
            </a:pPr>
            <a:r>
              <a:t/>
            </a:r>
            <a:endParaRPr b="1" baseline="30000" sz="3111"/>
          </a:p>
          <a:p>
            <a:pPr indent="0" lvl="0" marL="0" rtl="0" algn="l">
              <a:spcBef>
                <a:spcPts val="0"/>
              </a:spcBef>
              <a:spcAft>
                <a:spcPts val="0"/>
              </a:spcAft>
              <a:buNone/>
            </a:pPr>
            <a:r>
              <a:t/>
            </a:r>
            <a:endParaRPr baseline="30000"/>
          </a:p>
          <a:p>
            <a:pPr indent="0" lvl="0" marL="0" rtl="0" algn="l">
              <a:spcBef>
                <a:spcPts val="0"/>
              </a:spcBef>
              <a:spcAft>
                <a:spcPts val="0"/>
              </a:spcAft>
              <a:buNone/>
            </a:pPr>
            <a:r>
              <a:t/>
            </a:r>
            <a:endParaRPr baseline="30000"/>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89" name="Google Shape;189;p23"/>
          <p:cNvSpPr txBox="1"/>
          <p:nvPr>
            <p:ph idx="1" type="body"/>
          </p:nvPr>
        </p:nvSpPr>
        <p:spPr>
          <a:xfrm>
            <a:off x="707525" y="1052825"/>
            <a:ext cx="7934400" cy="35772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GB" sz="1320"/>
              <a:t>6.1 Model Description:</a:t>
            </a:r>
            <a:endParaRPr sz="1320"/>
          </a:p>
          <a:p>
            <a:pPr indent="0" lvl="0" marL="0" rtl="0" algn="l">
              <a:lnSpc>
                <a:spcPct val="105000"/>
              </a:lnSpc>
              <a:spcBef>
                <a:spcPts val="1200"/>
              </a:spcBef>
              <a:spcAft>
                <a:spcPts val="0"/>
              </a:spcAft>
              <a:buNone/>
            </a:pPr>
            <a:r>
              <a:rPr lang="en-GB" sz="1320"/>
              <a:t>Logistic Regression is a linear supervised learning algorithm widely used for classification tasks. In this project, it was employed as a baseline classifier to assess how effectively a classical machine learning model can separate image classes after dimensionality reduction using PCA.</a:t>
            </a:r>
            <a:endParaRPr sz="1320"/>
          </a:p>
          <a:p>
            <a:pPr indent="0" lvl="0" marL="0" rtl="0" algn="l">
              <a:lnSpc>
                <a:spcPct val="105000"/>
              </a:lnSpc>
              <a:spcBef>
                <a:spcPts val="1200"/>
              </a:spcBef>
              <a:spcAft>
                <a:spcPts val="0"/>
              </a:spcAft>
              <a:buNone/>
            </a:pPr>
            <a:r>
              <a:t/>
            </a:r>
            <a:endParaRPr sz="1320"/>
          </a:p>
          <a:p>
            <a:pPr indent="0" lvl="0" marL="0" rtl="0" algn="l">
              <a:lnSpc>
                <a:spcPct val="105000"/>
              </a:lnSpc>
              <a:spcBef>
                <a:spcPts val="1200"/>
              </a:spcBef>
              <a:spcAft>
                <a:spcPts val="0"/>
              </a:spcAft>
              <a:buNone/>
            </a:pPr>
            <a:r>
              <a:rPr lang="en-GB" sz="1320"/>
              <a:t>6.2 Training Procedure:</a:t>
            </a:r>
            <a:endParaRPr sz="1320"/>
          </a:p>
          <a:p>
            <a:pPr indent="0" lvl="0" marL="0" rtl="0" algn="l">
              <a:lnSpc>
                <a:spcPct val="105000"/>
              </a:lnSpc>
              <a:spcBef>
                <a:spcPts val="1200"/>
              </a:spcBef>
              <a:spcAft>
                <a:spcPts val="0"/>
              </a:spcAft>
              <a:buNone/>
            </a:pPr>
            <a:r>
              <a:rPr lang="en-GB" sz="1320"/>
              <a:t>The Logistic Regression model was trained using:</a:t>
            </a:r>
            <a:endParaRPr sz="1320"/>
          </a:p>
          <a:p>
            <a:pPr indent="0" lvl="0" marL="0" rtl="0" algn="l">
              <a:lnSpc>
                <a:spcPct val="105000"/>
              </a:lnSpc>
              <a:spcBef>
                <a:spcPts val="1200"/>
              </a:spcBef>
              <a:spcAft>
                <a:spcPts val="0"/>
              </a:spcAft>
              <a:buNone/>
            </a:pPr>
            <a:r>
              <a:rPr lang="en-GB" sz="1320"/>
              <a:t>PCA-transformed feature representations</a:t>
            </a:r>
            <a:endParaRPr sz="1320"/>
          </a:p>
          <a:p>
            <a:pPr indent="0" lvl="0" marL="0" rtl="0" algn="l">
              <a:lnSpc>
                <a:spcPct val="105000"/>
              </a:lnSpc>
              <a:spcBef>
                <a:spcPts val="1200"/>
              </a:spcBef>
              <a:spcAft>
                <a:spcPts val="0"/>
              </a:spcAft>
              <a:buNone/>
            </a:pPr>
            <a:r>
              <a:rPr lang="en-GB" sz="1320"/>
              <a:t>StandardScaler applied exclusively to the training data to prevent data leakage</a:t>
            </a:r>
            <a:endParaRPr sz="1320"/>
          </a:p>
          <a:p>
            <a:pPr indent="0" lvl="0" marL="0" rtl="0" algn="l">
              <a:lnSpc>
                <a:spcPct val="105000"/>
              </a:lnSpc>
              <a:spcBef>
                <a:spcPts val="1200"/>
              </a:spcBef>
              <a:spcAft>
                <a:spcPts val="0"/>
              </a:spcAft>
              <a:buNone/>
            </a:pPr>
            <a:r>
              <a:rPr lang="en-GB" sz="1320"/>
              <a:t>A sufficiently high maximum number of iterations to ensure model convergence</a:t>
            </a:r>
            <a:endParaRPr sz="1320"/>
          </a:p>
          <a:p>
            <a:pPr indent="0" lvl="0" marL="0" rtl="0" algn="l">
              <a:lnSpc>
                <a:spcPct val="105000"/>
              </a:lnSpc>
              <a:spcBef>
                <a:spcPts val="1200"/>
              </a:spcBef>
              <a:spcAft>
                <a:spcPts val="1200"/>
              </a:spcAft>
              <a:buSzPts val="440"/>
              <a:buNone/>
            </a:pPr>
            <a:r>
              <a:t/>
            </a:r>
            <a:endParaRPr sz="132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4"/>
          <p:cNvSpPr txBox="1"/>
          <p:nvPr>
            <p:ph type="title"/>
          </p:nvPr>
        </p:nvSpPr>
        <p:spPr>
          <a:xfrm>
            <a:off x="819150" y="53495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baseline="30000" lang="en-GB" sz="3111"/>
              <a:t>6.3 Evaluation Metrics</a:t>
            </a:r>
            <a:endParaRPr b="1" baseline="30000" sz="3111"/>
          </a:p>
          <a:p>
            <a:pPr indent="0" lvl="0" marL="0" rtl="0" algn="l">
              <a:spcBef>
                <a:spcPts val="0"/>
              </a:spcBef>
              <a:spcAft>
                <a:spcPts val="0"/>
              </a:spcAft>
              <a:buNone/>
            </a:pPr>
            <a:r>
              <a:t/>
            </a:r>
            <a:endParaRPr b="1" baseline="30000" sz="3111"/>
          </a:p>
          <a:p>
            <a:pPr indent="0" lvl="0" marL="0" rtl="0" algn="l">
              <a:spcBef>
                <a:spcPts val="0"/>
              </a:spcBef>
              <a:spcAft>
                <a:spcPts val="0"/>
              </a:spcAft>
              <a:buNone/>
            </a:pPr>
            <a:r>
              <a:t/>
            </a:r>
            <a:endParaRPr b="1" baseline="30000" sz="3111"/>
          </a:p>
        </p:txBody>
      </p:sp>
      <p:sp>
        <p:nvSpPr>
          <p:cNvPr id="195" name="Google Shape;195;p24"/>
          <p:cNvSpPr txBox="1"/>
          <p:nvPr>
            <p:ph idx="1" type="body"/>
          </p:nvPr>
        </p:nvSpPr>
        <p:spPr>
          <a:xfrm>
            <a:off x="707525" y="1052825"/>
            <a:ext cx="7934400" cy="35772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GB" sz="1320"/>
              <a:t>The model performance was evaluated using the following metrics:</a:t>
            </a:r>
            <a:endParaRPr sz="1320"/>
          </a:p>
          <a:p>
            <a:pPr indent="0" lvl="0" marL="0" rtl="0" algn="l">
              <a:lnSpc>
                <a:spcPct val="105000"/>
              </a:lnSpc>
              <a:spcBef>
                <a:spcPts val="1200"/>
              </a:spcBef>
              <a:spcAft>
                <a:spcPts val="0"/>
              </a:spcAft>
              <a:buNone/>
            </a:pPr>
            <a:r>
              <a:rPr lang="en-GB" sz="1320"/>
              <a:t>Accuracy</a:t>
            </a:r>
            <a:endParaRPr sz="1320"/>
          </a:p>
          <a:p>
            <a:pPr indent="0" lvl="0" marL="0" rtl="0" algn="l">
              <a:lnSpc>
                <a:spcPct val="105000"/>
              </a:lnSpc>
              <a:spcBef>
                <a:spcPts val="1200"/>
              </a:spcBef>
              <a:spcAft>
                <a:spcPts val="0"/>
              </a:spcAft>
              <a:buNone/>
            </a:pPr>
            <a:r>
              <a:rPr lang="en-GB" sz="1320"/>
              <a:t>Precision</a:t>
            </a:r>
            <a:endParaRPr sz="1320"/>
          </a:p>
          <a:p>
            <a:pPr indent="0" lvl="0" marL="0" rtl="0" algn="l">
              <a:lnSpc>
                <a:spcPct val="105000"/>
              </a:lnSpc>
              <a:spcBef>
                <a:spcPts val="1200"/>
              </a:spcBef>
              <a:spcAft>
                <a:spcPts val="0"/>
              </a:spcAft>
              <a:buNone/>
            </a:pPr>
            <a:r>
              <a:rPr lang="en-GB" sz="1320"/>
              <a:t>Recall</a:t>
            </a:r>
            <a:endParaRPr sz="1320"/>
          </a:p>
          <a:p>
            <a:pPr indent="0" lvl="0" marL="0" rtl="0" algn="l">
              <a:lnSpc>
                <a:spcPct val="105000"/>
              </a:lnSpc>
              <a:spcBef>
                <a:spcPts val="1200"/>
              </a:spcBef>
              <a:spcAft>
                <a:spcPts val="0"/>
              </a:spcAft>
              <a:buNone/>
            </a:pPr>
            <a:r>
              <a:rPr lang="en-GB" sz="1320"/>
              <a:t>F1-score</a:t>
            </a:r>
            <a:endParaRPr sz="1320"/>
          </a:p>
          <a:p>
            <a:pPr indent="0" lvl="0" marL="0" rtl="0" algn="l">
              <a:lnSpc>
                <a:spcPct val="105000"/>
              </a:lnSpc>
              <a:spcBef>
                <a:spcPts val="1200"/>
              </a:spcBef>
              <a:spcAft>
                <a:spcPts val="0"/>
              </a:spcAft>
              <a:buNone/>
            </a:pPr>
            <a:r>
              <a:rPr lang="en-GB" sz="1320"/>
              <a:t>Confusion Matrix</a:t>
            </a:r>
            <a:endParaRPr sz="1320"/>
          </a:p>
          <a:p>
            <a:pPr indent="0" lvl="0" marL="0" rtl="0" algn="l">
              <a:lnSpc>
                <a:spcPct val="105000"/>
              </a:lnSpc>
              <a:spcBef>
                <a:spcPts val="1200"/>
              </a:spcBef>
              <a:spcAft>
                <a:spcPts val="1200"/>
              </a:spcAft>
              <a:buSzPts val="440"/>
              <a:buNone/>
            </a:pPr>
            <a:r>
              <a:t/>
            </a:r>
            <a:endParaRPr sz="132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5"/>
          <p:cNvSpPr txBox="1"/>
          <p:nvPr>
            <p:ph type="title"/>
          </p:nvPr>
        </p:nvSpPr>
        <p:spPr>
          <a:xfrm>
            <a:off x="819150" y="53495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baseline="30000" lang="en-GB" sz="3111"/>
              <a:t>6.4 Results</a:t>
            </a:r>
            <a:endParaRPr b="1" baseline="30000" sz="3111"/>
          </a:p>
          <a:p>
            <a:pPr indent="0" lvl="0" marL="0" rtl="0" algn="l">
              <a:spcBef>
                <a:spcPts val="0"/>
              </a:spcBef>
              <a:spcAft>
                <a:spcPts val="0"/>
              </a:spcAft>
              <a:buNone/>
            </a:pPr>
            <a:r>
              <a:t/>
            </a:r>
            <a:endParaRPr b="1" baseline="30000" sz="3111"/>
          </a:p>
          <a:p>
            <a:pPr indent="0" lvl="0" marL="0" rtl="0" algn="l">
              <a:spcBef>
                <a:spcPts val="0"/>
              </a:spcBef>
              <a:spcAft>
                <a:spcPts val="0"/>
              </a:spcAft>
              <a:buNone/>
            </a:pPr>
            <a:r>
              <a:t/>
            </a:r>
            <a:endParaRPr b="1" baseline="30000" sz="3111"/>
          </a:p>
          <a:p>
            <a:pPr indent="0" lvl="0" marL="0" rtl="0" algn="l">
              <a:spcBef>
                <a:spcPts val="0"/>
              </a:spcBef>
              <a:spcAft>
                <a:spcPts val="0"/>
              </a:spcAft>
              <a:buNone/>
            </a:pPr>
            <a:r>
              <a:t/>
            </a:r>
            <a:endParaRPr b="1" baseline="30000" sz="3111"/>
          </a:p>
          <a:p>
            <a:pPr indent="0" lvl="0" marL="0" rtl="0" algn="l">
              <a:spcBef>
                <a:spcPts val="0"/>
              </a:spcBef>
              <a:spcAft>
                <a:spcPts val="0"/>
              </a:spcAft>
              <a:buNone/>
            </a:pPr>
            <a:r>
              <a:t/>
            </a:r>
            <a:endParaRPr b="1" baseline="30000" sz="3111"/>
          </a:p>
        </p:txBody>
      </p:sp>
      <p:sp>
        <p:nvSpPr>
          <p:cNvPr id="201" name="Google Shape;201;p25"/>
          <p:cNvSpPr txBox="1"/>
          <p:nvPr>
            <p:ph idx="1" type="body"/>
          </p:nvPr>
        </p:nvSpPr>
        <p:spPr>
          <a:xfrm>
            <a:off x="707525" y="1052825"/>
            <a:ext cx="7934400" cy="35772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GB" sz="1320"/>
              <a:t>The Logistic Regression model achieved:</a:t>
            </a:r>
            <a:endParaRPr sz="1320"/>
          </a:p>
          <a:p>
            <a:pPr indent="0" lvl="0" marL="0" rtl="0" algn="l">
              <a:lnSpc>
                <a:spcPct val="105000"/>
              </a:lnSpc>
              <a:spcBef>
                <a:spcPts val="1200"/>
              </a:spcBef>
              <a:spcAft>
                <a:spcPts val="0"/>
              </a:spcAft>
              <a:buNone/>
            </a:pPr>
            <a:r>
              <a:t/>
            </a:r>
            <a:endParaRPr sz="1320"/>
          </a:p>
          <a:p>
            <a:pPr indent="0" lvl="0" marL="0" rtl="0" algn="l">
              <a:lnSpc>
                <a:spcPct val="105000"/>
              </a:lnSpc>
              <a:spcBef>
                <a:spcPts val="1200"/>
              </a:spcBef>
              <a:spcAft>
                <a:spcPts val="0"/>
              </a:spcAft>
              <a:buNone/>
            </a:pPr>
            <a:r>
              <a:rPr lang="en-GB" sz="1320"/>
              <a:t>An accuracy of approximately 99.8%</a:t>
            </a:r>
            <a:endParaRPr sz="1320"/>
          </a:p>
          <a:p>
            <a:pPr indent="0" lvl="0" marL="0" rtl="0" algn="l">
              <a:lnSpc>
                <a:spcPct val="105000"/>
              </a:lnSpc>
              <a:spcBef>
                <a:spcPts val="1200"/>
              </a:spcBef>
              <a:spcAft>
                <a:spcPts val="0"/>
              </a:spcAft>
              <a:buNone/>
            </a:pPr>
            <a:r>
              <a:t/>
            </a:r>
            <a:endParaRPr sz="1320"/>
          </a:p>
          <a:p>
            <a:pPr indent="0" lvl="0" marL="0" rtl="0" algn="l">
              <a:lnSpc>
                <a:spcPct val="105000"/>
              </a:lnSpc>
              <a:spcBef>
                <a:spcPts val="1200"/>
              </a:spcBef>
              <a:spcAft>
                <a:spcPts val="0"/>
              </a:spcAft>
              <a:buNone/>
            </a:pPr>
            <a:r>
              <a:rPr lang="en-GB" sz="1320"/>
              <a:t>Only one misclassification across the entire test set</a:t>
            </a:r>
            <a:endParaRPr sz="1320"/>
          </a:p>
          <a:p>
            <a:pPr indent="0" lvl="0" marL="0" rtl="0" algn="l">
              <a:lnSpc>
                <a:spcPct val="105000"/>
              </a:lnSpc>
              <a:spcBef>
                <a:spcPts val="1200"/>
              </a:spcBef>
              <a:spcAft>
                <a:spcPts val="0"/>
              </a:spcAft>
              <a:buNone/>
            </a:pPr>
            <a:r>
              <a:t/>
            </a:r>
            <a:endParaRPr sz="1320"/>
          </a:p>
          <a:p>
            <a:pPr indent="0" lvl="0" marL="0" rtl="0" algn="l">
              <a:lnSpc>
                <a:spcPct val="105000"/>
              </a:lnSpc>
              <a:spcBef>
                <a:spcPts val="1200"/>
              </a:spcBef>
              <a:spcAft>
                <a:spcPts val="0"/>
              </a:spcAft>
              <a:buNone/>
            </a:pPr>
            <a:r>
              <a:rPr lang="en-GB" sz="1320"/>
              <a:t>This high performance can be attributed to the controlled nature of the Fruits-360 dataset and the strong linear separability of image classes after preprocessing and PCA.</a:t>
            </a:r>
            <a:endParaRPr sz="1320"/>
          </a:p>
          <a:p>
            <a:pPr indent="0" lvl="0" marL="0" rtl="0" algn="l">
              <a:lnSpc>
                <a:spcPct val="105000"/>
              </a:lnSpc>
              <a:spcBef>
                <a:spcPts val="1200"/>
              </a:spcBef>
              <a:spcAft>
                <a:spcPts val="1200"/>
              </a:spcAft>
              <a:buSzPts val="440"/>
              <a:buNone/>
            </a:pPr>
            <a:r>
              <a:t/>
            </a:r>
            <a:endParaRPr sz="132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6"/>
          <p:cNvSpPr txBox="1"/>
          <p:nvPr>
            <p:ph type="title"/>
          </p:nvPr>
        </p:nvSpPr>
        <p:spPr>
          <a:xfrm>
            <a:off x="819150" y="53495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baseline="30000" lang="en-GB" sz="3111"/>
              <a:t>7. K-Means Clustering (Unsupervised Learning)</a:t>
            </a:r>
            <a:endParaRPr b="1" baseline="30000" sz="3111"/>
          </a:p>
          <a:p>
            <a:pPr indent="0" lvl="0" marL="0" rtl="0" algn="l">
              <a:spcBef>
                <a:spcPts val="0"/>
              </a:spcBef>
              <a:spcAft>
                <a:spcPts val="0"/>
              </a:spcAft>
              <a:buNone/>
            </a:pPr>
            <a:r>
              <a:t/>
            </a:r>
            <a:endParaRPr b="1" baseline="30000" sz="3111"/>
          </a:p>
          <a:p>
            <a:pPr indent="0" lvl="0" marL="0" rtl="0" algn="l">
              <a:spcBef>
                <a:spcPts val="0"/>
              </a:spcBef>
              <a:spcAft>
                <a:spcPts val="0"/>
              </a:spcAft>
              <a:buNone/>
            </a:pPr>
            <a:r>
              <a:t/>
            </a:r>
            <a:endParaRPr b="1" baseline="30000" sz="3111"/>
          </a:p>
          <a:p>
            <a:pPr indent="0" lvl="0" marL="0" rtl="0" algn="l">
              <a:spcBef>
                <a:spcPts val="0"/>
              </a:spcBef>
              <a:spcAft>
                <a:spcPts val="0"/>
              </a:spcAft>
              <a:buNone/>
            </a:pPr>
            <a:r>
              <a:t/>
            </a:r>
            <a:endParaRPr b="1" baseline="30000" sz="3111"/>
          </a:p>
          <a:p>
            <a:pPr indent="0" lvl="0" marL="0" rtl="0" algn="l">
              <a:spcBef>
                <a:spcPts val="0"/>
              </a:spcBef>
              <a:spcAft>
                <a:spcPts val="0"/>
              </a:spcAft>
              <a:buNone/>
            </a:pPr>
            <a:r>
              <a:t/>
            </a:r>
            <a:endParaRPr b="1" baseline="30000" sz="3111"/>
          </a:p>
          <a:p>
            <a:pPr indent="0" lvl="0" marL="0" rtl="0" algn="l">
              <a:spcBef>
                <a:spcPts val="0"/>
              </a:spcBef>
              <a:spcAft>
                <a:spcPts val="0"/>
              </a:spcAft>
              <a:buNone/>
            </a:pPr>
            <a:r>
              <a:t/>
            </a:r>
            <a:endParaRPr b="1" baseline="30000" sz="3111"/>
          </a:p>
          <a:p>
            <a:pPr indent="0" lvl="0" marL="0" rtl="0" algn="l">
              <a:spcBef>
                <a:spcPts val="0"/>
              </a:spcBef>
              <a:spcAft>
                <a:spcPts val="0"/>
              </a:spcAft>
              <a:buNone/>
            </a:pPr>
            <a:r>
              <a:t/>
            </a:r>
            <a:endParaRPr b="1" baseline="30000" sz="3111"/>
          </a:p>
        </p:txBody>
      </p:sp>
      <p:sp>
        <p:nvSpPr>
          <p:cNvPr id="207" name="Google Shape;207;p26"/>
          <p:cNvSpPr txBox="1"/>
          <p:nvPr>
            <p:ph idx="1" type="body"/>
          </p:nvPr>
        </p:nvSpPr>
        <p:spPr>
          <a:xfrm>
            <a:off x="707525" y="1052825"/>
            <a:ext cx="7934400" cy="35772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GB" sz="1320"/>
              <a:t>7.1 Purpose</a:t>
            </a:r>
            <a:endParaRPr sz="1320"/>
          </a:p>
          <a:p>
            <a:pPr indent="0" lvl="0" marL="0" rtl="0" algn="l">
              <a:lnSpc>
                <a:spcPct val="105000"/>
              </a:lnSpc>
              <a:spcBef>
                <a:spcPts val="1200"/>
              </a:spcBef>
              <a:spcAft>
                <a:spcPts val="0"/>
              </a:spcAft>
              <a:buNone/>
            </a:pPr>
            <a:r>
              <a:rPr lang="en-GB" sz="1320"/>
              <a:t>K-Means is an unsupervised learning algorithm that groups data points based solely on feature similarity, without relying on predefined class labels. Unlike supervised classifiers such as Logistic Regression, K-Means does not aim to predict class labels, but rather to uncover latent structures within the data.</a:t>
            </a:r>
            <a:endParaRPr sz="1320"/>
          </a:p>
          <a:p>
            <a:pPr indent="0" lvl="0" marL="0" rtl="0" algn="l">
              <a:lnSpc>
                <a:spcPct val="105000"/>
              </a:lnSpc>
              <a:spcBef>
                <a:spcPts val="1200"/>
              </a:spcBef>
              <a:spcAft>
                <a:spcPts val="0"/>
              </a:spcAft>
              <a:buNone/>
            </a:pPr>
            <a:r>
              <a:rPr lang="en-GB" sz="1320"/>
              <a:t>In this project, K-Means was applied to:</a:t>
            </a:r>
            <a:endParaRPr sz="1320"/>
          </a:p>
          <a:p>
            <a:pPr indent="0" lvl="0" marL="0" rtl="0" algn="l">
              <a:lnSpc>
                <a:spcPct val="105000"/>
              </a:lnSpc>
              <a:spcBef>
                <a:spcPts val="1200"/>
              </a:spcBef>
              <a:spcAft>
                <a:spcPts val="0"/>
              </a:spcAft>
              <a:buNone/>
            </a:pPr>
            <a:r>
              <a:rPr lang="en-GB" sz="1320"/>
              <a:t>Explore the intrinsic organization of image data in feature space.</a:t>
            </a:r>
            <a:endParaRPr sz="1320"/>
          </a:p>
          <a:p>
            <a:pPr indent="0" lvl="0" marL="0" rtl="0" algn="l">
              <a:lnSpc>
                <a:spcPct val="105000"/>
              </a:lnSpc>
              <a:spcBef>
                <a:spcPts val="1200"/>
              </a:spcBef>
              <a:spcAft>
                <a:spcPts val="0"/>
              </a:spcAft>
              <a:buNone/>
            </a:pPr>
            <a:r>
              <a:rPr lang="en-GB" sz="1320"/>
              <a:t>Investigate whether fruit images naturally form clusters based on visual characteristics.</a:t>
            </a:r>
            <a:endParaRPr sz="1320"/>
          </a:p>
          <a:p>
            <a:pPr indent="0" lvl="0" marL="0" rtl="0" algn="l">
              <a:lnSpc>
                <a:spcPct val="105000"/>
              </a:lnSpc>
              <a:spcBef>
                <a:spcPts val="1200"/>
              </a:spcBef>
              <a:spcAft>
                <a:spcPts val="0"/>
              </a:spcAft>
              <a:buNone/>
            </a:pPr>
            <a:r>
              <a:rPr lang="en-GB" sz="1320"/>
              <a:t>Provide a conceptual comparison between supervised and unsupervised learning approaches when applied to image data.</a:t>
            </a:r>
            <a:endParaRPr sz="1320"/>
          </a:p>
          <a:p>
            <a:pPr indent="0" lvl="0" marL="0" rtl="0" algn="l">
              <a:lnSpc>
                <a:spcPct val="105000"/>
              </a:lnSpc>
              <a:spcBef>
                <a:spcPts val="1200"/>
              </a:spcBef>
              <a:spcAft>
                <a:spcPts val="0"/>
              </a:spcAft>
              <a:buNone/>
            </a:pPr>
            <a:r>
              <a:t/>
            </a:r>
            <a:endParaRPr sz="1320"/>
          </a:p>
          <a:p>
            <a:pPr indent="0" lvl="0" marL="0" rtl="0" algn="l">
              <a:lnSpc>
                <a:spcPct val="105000"/>
              </a:lnSpc>
              <a:spcBef>
                <a:spcPts val="1200"/>
              </a:spcBef>
              <a:spcAft>
                <a:spcPts val="1200"/>
              </a:spcAft>
              <a:buSzPts val="440"/>
              <a:buNone/>
            </a:pPr>
            <a:r>
              <a:t/>
            </a:r>
            <a:endParaRPr sz="132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7"/>
          <p:cNvSpPr txBox="1"/>
          <p:nvPr>
            <p:ph type="title"/>
          </p:nvPr>
        </p:nvSpPr>
        <p:spPr>
          <a:xfrm>
            <a:off x="819150" y="53495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baseline="30000" lang="en-GB" sz="3111"/>
              <a:t>7. K-Means Clustering (Unsupervised Learning)</a:t>
            </a:r>
            <a:endParaRPr b="1" baseline="30000" sz="3111"/>
          </a:p>
          <a:p>
            <a:pPr indent="0" lvl="0" marL="0" rtl="0" algn="l">
              <a:spcBef>
                <a:spcPts val="0"/>
              </a:spcBef>
              <a:spcAft>
                <a:spcPts val="0"/>
              </a:spcAft>
              <a:buNone/>
            </a:pPr>
            <a:r>
              <a:t/>
            </a:r>
            <a:endParaRPr b="1" baseline="30000" sz="3111"/>
          </a:p>
          <a:p>
            <a:pPr indent="0" lvl="0" marL="0" rtl="0" algn="l">
              <a:spcBef>
                <a:spcPts val="0"/>
              </a:spcBef>
              <a:spcAft>
                <a:spcPts val="0"/>
              </a:spcAft>
              <a:buNone/>
            </a:pPr>
            <a:r>
              <a:t/>
            </a:r>
            <a:endParaRPr b="1" baseline="30000" sz="3111"/>
          </a:p>
          <a:p>
            <a:pPr indent="0" lvl="0" marL="0" rtl="0" algn="l">
              <a:spcBef>
                <a:spcPts val="0"/>
              </a:spcBef>
              <a:spcAft>
                <a:spcPts val="0"/>
              </a:spcAft>
              <a:buNone/>
            </a:pPr>
            <a:r>
              <a:t/>
            </a:r>
            <a:endParaRPr b="1" baseline="30000" sz="3111"/>
          </a:p>
          <a:p>
            <a:pPr indent="0" lvl="0" marL="0" rtl="0" algn="l">
              <a:spcBef>
                <a:spcPts val="0"/>
              </a:spcBef>
              <a:spcAft>
                <a:spcPts val="0"/>
              </a:spcAft>
              <a:buNone/>
            </a:pPr>
            <a:r>
              <a:t/>
            </a:r>
            <a:endParaRPr b="1" baseline="30000" sz="3111"/>
          </a:p>
          <a:p>
            <a:pPr indent="0" lvl="0" marL="0" rtl="0" algn="l">
              <a:spcBef>
                <a:spcPts val="0"/>
              </a:spcBef>
              <a:spcAft>
                <a:spcPts val="0"/>
              </a:spcAft>
              <a:buNone/>
            </a:pPr>
            <a:r>
              <a:t/>
            </a:r>
            <a:endParaRPr b="1" baseline="30000" sz="3111"/>
          </a:p>
          <a:p>
            <a:pPr indent="0" lvl="0" marL="0" rtl="0" algn="l">
              <a:spcBef>
                <a:spcPts val="0"/>
              </a:spcBef>
              <a:spcAft>
                <a:spcPts val="0"/>
              </a:spcAft>
              <a:buNone/>
            </a:pPr>
            <a:r>
              <a:t/>
            </a:r>
            <a:endParaRPr b="1" baseline="30000" sz="3111"/>
          </a:p>
        </p:txBody>
      </p:sp>
      <p:sp>
        <p:nvSpPr>
          <p:cNvPr id="213" name="Google Shape;213;p27"/>
          <p:cNvSpPr txBox="1"/>
          <p:nvPr>
            <p:ph idx="1" type="body"/>
          </p:nvPr>
        </p:nvSpPr>
        <p:spPr>
          <a:xfrm>
            <a:off x="707525" y="1052825"/>
            <a:ext cx="7934400" cy="35772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GB" sz="1320"/>
              <a:t>7.2 Methodology:</a:t>
            </a:r>
            <a:endParaRPr sz="1320"/>
          </a:p>
          <a:p>
            <a:pPr indent="0" lvl="0" marL="0" rtl="0" algn="l">
              <a:lnSpc>
                <a:spcPct val="105000"/>
              </a:lnSpc>
              <a:spcBef>
                <a:spcPts val="1200"/>
              </a:spcBef>
              <a:spcAft>
                <a:spcPts val="0"/>
              </a:spcAft>
              <a:buNone/>
            </a:pPr>
            <a:r>
              <a:rPr lang="en-GB" sz="1320"/>
              <a:t>To improve clustering performance, K-Means was applied to the PCA-reduced feature space rather than the original high-dimensional pixel representation. This step was essential because K-Means relies on Euclidean distance, which becomes unreliable in very high-dimensional spaces.</a:t>
            </a:r>
            <a:endParaRPr sz="1320"/>
          </a:p>
          <a:p>
            <a:pPr indent="0" lvl="0" marL="0" rtl="0" algn="l">
              <a:lnSpc>
                <a:spcPct val="105000"/>
              </a:lnSpc>
              <a:spcBef>
                <a:spcPts val="1200"/>
              </a:spcBef>
              <a:spcAft>
                <a:spcPts val="0"/>
              </a:spcAft>
              <a:buNone/>
            </a:pPr>
            <a:r>
              <a:rPr lang="en-GB" sz="1320"/>
              <a:t>Key methodological steps include:</a:t>
            </a:r>
            <a:endParaRPr sz="1320"/>
          </a:p>
          <a:p>
            <a:pPr indent="0" lvl="0" marL="0" rtl="0" algn="l">
              <a:lnSpc>
                <a:spcPct val="105000"/>
              </a:lnSpc>
              <a:spcBef>
                <a:spcPts val="1200"/>
              </a:spcBef>
              <a:spcAft>
                <a:spcPts val="0"/>
              </a:spcAft>
              <a:buNone/>
            </a:pPr>
            <a:r>
              <a:rPr lang="en-GB" sz="1320"/>
              <a:t>Applying StandardScaler followed by PCA to reduce dimensionality and remove redundant information.</a:t>
            </a:r>
            <a:endParaRPr sz="1320"/>
          </a:p>
          <a:p>
            <a:pPr indent="0" lvl="0" marL="0" rtl="0" algn="l">
              <a:lnSpc>
                <a:spcPct val="105000"/>
              </a:lnSpc>
              <a:spcBef>
                <a:spcPts val="1200"/>
              </a:spcBef>
              <a:spcAft>
                <a:spcPts val="0"/>
              </a:spcAft>
              <a:buNone/>
            </a:pPr>
            <a:r>
              <a:rPr lang="en-GB" sz="1320"/>
              <a:t>Reducing the feature space from 10,000 to 137 components, while preserving 95% of the total variance.</a:t>
            </a:r>
            <a:endParaRPr sz="1320"/>
          </a:p>
          <a:p>
            <a:pPr indent="0" lvl="0" marL="0" rtl="0" algn="l">
              <a:lnSpc>
                <a:spcPct val="105000"/>
              </a:lnSpc>
              <a:spcBef>
                <a:spcPts val="1200"/>
              </a:spcBef>
              <a:spcAft>
                <a:spcPts val="0"/>
              </a:spcAft>
              <a:buNone/>
            </a:pPr>
            <a:r>
              <a:rPr lang="en-GB" sz="1320"/>
              <a:t>Configuring K-Means with five clusters, corresponding to the number of fruit classes, to facilitate interpretation of clustering results.By operating in a lower-dimensional space, K-Means becomes more stable and computationally efficient, and the resulting clusters are more meaningful.</a:t>
            </a:r>
            <a:endParaRPr sz="1320"/>
          </a:p>
          <a:p>
            <a:pPr indent="0" lvl="0" marL="0" rtl="0" algn="l">
              <a:lnSpc>
                <a:spcPct val="105000"/>
              </a:lnSpc>
              <a:spcBef>
                <a:spcPts val="1200"/>
              </a:spcBef>
              <a:spcAft>
                <a:spcPts val="0"/>
              </a:spcAft>
              <a:buNone/>
            </a:pPr>
            <a:r>
              <a:t/>
            </a:r>
            <a:endParaRPr sz="1320"/>
          </a:p>
          <a:p>
            <a:pPr indent="0" lvl="0" marL="0" rtl="0" algn="l">
              <a:lnSpc>
                <a:spcPct val="105000"/>
              </a:lnSpc>
              <a:spcBef>
                <a:spcPts val="1200"/>
              </a:spcBef>
              <a:spcAft>
                <a:spcPts val="1200"/>
              </a:spcAft>
              <a:buNone/>
            </a:pPr>
            <a:r>
              <a:t/>
            </a:r>
            <a:endParaRPr sz="132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8"/>
          <p:cNvSpPr txBox="1"/>
          <p:nvPr>
            <p:ph type="title"/>
          </p:nvPr>
        </p:nvSpPr>
        <p:spPr>
          <a:xfrm>
            <a:off x="819150" y="53495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baseline="30000" lang="en-GB" sz="3111"/>
              <a:t>7. K-Means Clustering (Unsupervised Learning)</a:t>
            </a:r>
            <a:endParaRPr b="1" baseline="30000" sz="3111"/>
          </a:p>
          <a:p>
            <a:pPr indent="0" lvl="0" marL="0" rtl="0" algn="l">
              <a:spcBef>
                <a:spcPts val="0"/>
              </a:spcBef>
              <a:spcAft>
                <a:spcPts val="0"/>
              </a:spcAft>
              <a:buNone/>
            </a:pPr>
            <a:r>
              <a:t/>
            </a:r>
            <a:endParaRPr b="1" baseline="30000" sz="3111"/>
          </a:p>
          <a:p>
            <a:pPr indent="0" lvl="0" marL="0" rtl="0" algn="l">
              <a:spcBef>
                <a:spcPts val="0"/>
              </a:spcBef>
              <a:spcAft>
                <a:spcPts val="0"/>
              </a:spcAft>
              <a:buNone/>
            </a:pPr>
            <a:r>
              <a:t/>
            </a:r>
            <a:endParaRPr b="1" baseline="30000" sz="3111"/>
          </a:p>
          <a:p>
            <a:pPr indent="0" lvl="0" marL="0" rtl="0" algn="l">
              <a:spcBef>
                <a:spcPts val="0"/>
              </a:spcBef>
              <a:spcAft>
                <a:spcPts val="0"/>
              </a:spcAft>
              <a:buNone/>
            </a:pPr>
            <a:r>
              <a:t/>
            </a:r>
            <a:endParaRPr b="1" baseline="30000" sz="3111"/>
          </a:p>
          <a:p>
            <a:pPr indent="0" lvl="0" marL="0" rtl="0" algn="l">
              <a:spcBef>
                <a:spcPts val="0"/>
              </a:spcBef>
              <a:spcAft>
                <a:spcPts val="0"/>
              </a:spcAft>
              <a:buNone/>
            </a:pPr>
            <a:r>
              <a:t/>
            </a:r>
            <a:endParaRPr b="1" baseline="30000" sz="3111"/>
          </a:p>
          <a:p>
            <a:pPr indent="0" lvl="0" marL="0" rtl="0" algn="l">
              <a:spcBef>
                <a:spcPts val="0"/>
              </a:spcBef>
              <a:spcAft>
                <a:spcPts val="0"/>
              </a:spcAft>
              <a:buNone/>
            </a:pPr>
            <a:r>
              <a:t/>
            </a:r>
            <a:endParaRPr b="1" baseline="30000" sz="3111"/>
          </a:p>
          <a:p>
            <a:pPr indent="0" lvl="0" marL="0" rtl="0" algn="l">
              <a:spcBef>
                <a:spcPts val="0"/>
              </a:spcBef>
              <a:spcAft>
                <a:spcPts val="0"/>
              </a:spcAft>
              <a:buNone/>
            </a:pPr>
            <a:r>
              <a:t/>
            </a:r>
            <a:endParaRPr b="1" baseline="30000" sz="3111"/>
          </a:p>
        </p:txBody>
      </p:sp>
      <p:sp>
        <p:nvSpPr>
          <p:cNvPr id="219" name="Google Shape;219;p28"/>
          <p:cNvSpPr txBox="1"/>
          <p:nvPr>
            <p:ph idx="1" type="body"/>
          </p:nvPr>
        </p:nvSpPr>
        <p:spPr>
          <a:xfrm>
            <a:off x="707525" y="1052825"/>
            <a:ext cx="7934400" cy="35772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GB" sz="1320"/>
              <a:t>7.3 Evaluation</a:t>
            </a:r>
            <a:endParaRPr sz="1320"/>
          </a:p>
          <a:p>
            <a:pPr indent="0" lvl="0" marL="0" rtl="0" algn="l">
              <a:lnSpc>
                <a:spcPct val="105000"/>
              </a:lnSpc>
              <a:spcBef>
                <a:spcPts val="1200"/>
              </a:spcBef>
              <a:spcAft>
                <a:spcPts val="0"/>
              </a:spcAft>
              <a:buNone/>
            </a:pPr>
            <a:r>
              <a:rPr lang="en-GB" sz="1320"/>
              <a:t>Since K-Means is an unsupervised algorithm, traditional classification metrics such as accuracy, precision, and recall are not appropriate. Instead, clustering performance was evaluated using the Silhouette Score, which measures how similar each data point is to its own cluster compared to other clusters.</a:t>
            </a:r>
            <a:endParaRPr sz="1320"/>
          </a:p>
          <a:p>
            <a:pPr indent="0" lvl="0" marL="0" rtl="0" algn="l">
              <a:lnSpc>
                <a:spcPct val="105000"/>
              </a:lnSpc>
              <a:spcBef>
                <a:spcPts val="1200"/>
              </a:spcBef>
              <a:spcAft>
                <a:spcPts val="0"/>
              </a:spcAft>
              <a:buNone/>
            </a:pPr>
            <a:r>
              <a:rPr lang="en-GB" sz="1320"/>
              <a:t>The Silhouette Score ranges from:</a:t>
            </a:r>
            <a:endParaRPr sz="1320"/>
          </a:p>
          <a:p>
            <a:pPr indent="0" lvl="0" marL="0" rtl="0" algn="l">
              <a:lnSpc>
                <a:spcPct val="105000"/>
              </a:lnSpc>
              <a:spcBef>
                <a:spcPts val="1200"/>
              </a:spcBef>
              <a:spcAft>
                <a:spcPts val="0"/>
              </a:spcAft>
              <a:buNone/>
            </a:pPr>
            <a:r>
              <a:rPr lang="en-GB" sz="1320"/>
              <a:t>−1 (poor clustering)</a:t>
            </a:r>
            <a:endParaRPr sz="1320"/>
          </a:p>
          <a:p>
            <a:pPr indent="0" lvl="0" marL="0" rtl="0" algn="l">
              <a:lnSpc>
                <a:spcPct val="105000"/>
              </a:lnSpc>
              <a:spcBef>
                <a:spcPts val="1200"/>
              </a:spcBef>
              <a:spcAft>
                <a:spcPts val="0"/>
              </a:spcAft>
              <a:buNone/>
            </a:pPr>
            <a:r>
              <a:rPr lang="en-GB" sz="1320"/>
              <a:t>0 (overlapping clusters)</a:t>
            </a:r>
            <a:endParaRPr sz="1320"/>
          </a:p>
          <a:p>
            <a:pPr indent="0" lvl="0" marL="0" rtl="0" algn="l">
              <a:lnSpc>
                <a:spcPct val="105000"/>
              </a:lnSpc>
              <a:spcBef>
                <a:spcPts val="1200"/>
              </a:spcBef>
              <a:spcAft>
                <a:spcPts val="0"/>
              </a:spcAft>
              <a:buNone/>
            </a:pPr>
            <a:r>
              <a:rPr lang="en-GB" sz="1320"/>
              <a:t>+1 (well-separated clusters)</a:t>
            </a:r>
            <a:endParaRPr sz="1320"/>
          </a:p>
          <a:p>
            <a:pPr indent="0" lvl="0" marL="0" rtl="0" algn="l">
              <a:lnSpc>
                <a:spcPct val="105000"/>
              </a:lnSpc>
              <a:spcBef>
                <a:spcPts val="1200"/>
              </a:spcBef>
              <a:spcAft>
                <a:spcPts val="0"/>
              </a:spcAft>
              <a:buNone/>
            </a:pPr>
            <a:r>
              <a:rPr lang="en-GB" sz="1320"/>
              <a:t>This metric provides a quantitative assessment of cluster compactness and separation without requiring class labels.</a:t>
            </a:r>
            <a:endParaRPr sz="1320"/>
          </a:p>
          <a:p>
            <a:pPr indent="0" lvl="0" marL="0" rtl="0" algn="l">
              <a:lnSpc>
                <a:spcPct val="105000"/>
              </a:lnSpc>
              <a:spcBef>
                <a:spcPts val="1200"/>
              </a:spcBef>
              <a:spcAft>
                <a:spcPts val="1200"/>
              </a:spcAft>
              <a:buNone/>
            </a:pPr>
            <a:r>
              <a:t/>
            </a:r>
            <a:endParaRPr sz="132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9"/>
          <p:cNvSpPr txBox="1"/>
          <p:nvPr>
            <p:ph type="title"/>
          </p:nvPr>
        </p:nvSpPr>
        <p:spPr>
          <a:xfrm>
            <a:off x="819150" y="53495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baseline="30000" lang="en-GB" sz="3111"/>
              <a:t>7. K-Means Clustering (Unsupervised Learning)</a:t>
            </a:r>
            <a:endParaRPr b="1" baseline="30000" sz="3111"/>
          </a:p>
          <a:p>
            <a:pPr indent="0" lvl="0" marL="0" rtl="0" algn="l">
              <a:spcBef>
                <a:spcPts val="0"/>
              </a:spcBef>
              <a:spcAft>
                <a:spcPts val="0"/>
              </a:spcAft>
              <a:buNone/>
            </a:pPr>
            <a:r>
              <a:t/>
            </a:r>
            <a:endParaRPr b="1" baseline="30000" sz="3111"/>
          </a:p>
          <a:p>
            <a:pPr indent="0" lvl="0" marL="0" rtl="0" algn="l">
              <a:spcBef>
                <a:spcPts val="0"/>
              </a:spcBef>
              <a:spcAft>
                <a:spcPts val="0"/>
              </a:spcAft>
              <a:buNone/>
            </a:pPr>
            <a:r>
              <a:t/>
            </a:r>
            <a:endParaRPr b="1" baseline="30000" sz="3111"/>
          </a:p>
          <a:p>
            <a:pPr indent="0" lvl="0" marL="0" rtl="0" algn="l">
              <a:spcBef>
                <a:spcPts val="0"/>
              </a:spcBef>
              <a:spcAft>
                <a:spcPts val="0"/>
              </a:spcAft>
              <a:buNone/>
            </a:pPr>
            <a:r>
              <a:t/>
            </a:r>
            <a:endParaRPr b="1" baseline="30000" sz="3111"/>
          </a:p>
          <a:p>
            <a:pPr indent="0" lvl="0" marL="0" rtl="0" algn="l">
              <a:spcBef>
                <a:spcPts val="0"/>
              </a:spcBef>
              <a:spcAft>
                <a:spcPts val="0"/>
              </a:spcAft>
              <a:buNone/>
            </a:pPr>
            <a:r>
              <a:t/>
            </a:r>
            <a:endParaRPr b="1" baseline="30000" sz="3111"/>
          </a:p>
          <a:p>
            <a:pPr indent="0" lvl="0" marL="0" rtl="0" algn="l">
              <a:spcBef>
                <a:spcPts val="0"/>
              </a:spcBef>
              <a:spcAft>
                <a:spcPts val="0"/>
              </a:spcAft>
              <a:buNone/>
            </a:pPr>
            <a:r>
              <a:t/>
            </a:r>
            <a:endParaRPr b="1" baseline="30000" sz="3111"/>
          </a:p>
          <a:p>
            <a:pPr indent="0" lvl="0" marL="0" rtl="0" algn="l">
              <a:spcBef>
                <a:spcPts val="0"/>
              </a:spcBef>
              <a:spcAft>
                <a:spcPts val="0"/>
              </a:spcAft>
              <a:buNone/>
            </a:pPr>
            <a:r>
              <a:t/>
            </a:r>
            <a:endParaRPr b="1" baseline="30000" sz="3111"/>
          </a:p>
        </p:txBody>
      </p:sp>
      <p:sp>
        <p:nvSpPr>
          <p:cNvPr id="225" name="Google Shape;225;p29"/>
          <p:cNvSpPr txBox="1"/>
          <p:nvPr>
            <p:ph idx="1" type="body"/>
          </p:nvPr>
        </p:nvSpPr>
        <p:spPr>
          <a:xfrm>
            <a:off x="707525" y="1052825"/>
            <a:ext cx="7934400" cy="35772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GB" sz="1320"/>
              <a:t>7.4 Results</a:t>
            </a:r>
            <a:endParaRPr sz="1320"/>
          </a:p>
          <a:p>
            <a:pPr indent="0" lvl="0" marL="0" rtl="0" algn="l">
              <a:lnSpc>
                <a:spcPct val="105000"/>
              </a:lnSpc>
              <a:spcBef>
                <a:spcPts val="1200"/>
              </a:spcBef>
              <a:spcAft>
                <a:spcPts val="0"/>
              </a:spcAft>
              <a:buNone/>
            </a:pPr>
            <a:r>
              <a:rPr lang="en-GB" sz="1320"/>
              <a:t>The K-Means model achieved a Silhouette Score of approximately 0.28. This value indicates moderate cluster separation, which is considered reasonable for image data.</a:t>
            </a:r>
            <a:endParaRPr sz="1320"/>
          </a:p>
          <a:p>
            <a:pPr indent="0" lvl="0" marL="0" rtl="0" algn="l">
              <a:lnSpc>
                <a:spcPct val="105000"/>
              </a:lnSpc>
              <a:spcBef>
                <a:spcPts val="1200"/>
              </a:spcBef>
              <a:spcAft>
                <a:spcPts val="0"/>
              </a:spcAft>
              <a:buNone/>
            </a:pPr>
            <a:r>
              <a:rPr lang="en-GB" sz="1320"/>
              <a:t>Several factors contribute to this result:</a:t>
            </a:r>
            <a:endParaRPr sz="1320"/>
          </a:p>
          <a:p>
            <a:pPr indent="0" lvl="0" marL="0" rtl="0" algn="l">
              <a:lnSpc>
                <a:spcPct val="105000"/>
              </a:lnSpc>
              <a:spcBef>
                <a:spcPts val="1200"/>
              </a:spcBef>
              <a:spcAft>
                <a:spcPts val="0"/>
              </a:spcAft>
              <a:buNone/>
            </a:pPr>
            <a:r>
              <a:rPr lang="en-GB" sz="1320"/>
              <a:t>Visual similarities between different fruit classes, such as shape and texture.</a:t>
            </a:r>
            <a:endParaRPr sz="1320"/>
          </a:p>
          <a:p>
            <a:pPr indent="0" lvl="0" marL="0" rtl="0" algn="l">
              <a:lnSpc>
                <a:spcPct val="105000"/>
              </a:lnSpc>
              <a:spcBef>
                <a:spcPts val="1200"/>
              </a:spcBef>
              <a:spcAft>
                <a:spcPts val="0"/>
              </a:spcAft>
              <a:buNone/>
            </a:pPr>
            <a:r>
              <a:rPr lang="en-GB" sz="1320"/>
              <a:t>Overlapping intensity patterns after grayscale conversion.The absence of label supervision, which limits K-Means’ ability to align clusters with semantic class boundaries.</a:t>
            </a:r>
            <a:endParaRPr sz="1320"/>
          </a:p>
          <a:p>
            <a:pPr indent="0" lvl="0" marL="0" rtl="0" algn="l">
              <a:lnSpc>
                <a:spcPct val="105000"/>
              </a:lnSpc>
              <a:spcBef>
                <a:spcPts val="1200"/>
              </a:spcBef>
              <a:spcAft>
                <a:spcPts val="0"/>
              </a:spcAft>
              <a:buNone/>
            </a:pPr>
            <a:r>
              <a:rPr lang="en-GB" sz="1320"/>
              <a:t>Despite these challenges, the clustering results still provide useful insights into the data’s structure and confirm that some degree of natural grouping exists within the image features.</a:t>
            </a:r>
            <a:endParaRPr sz="1320"/>
          </a:p>
          <a:p>
            <a:pPr indent="0" lvl="0" marL="0" rtl="0" algn="l">
              <a:lnSpc>
                <a:spcPct val="105000"/>
              </a:lnSpc>
              <a:spcBef>
                <a:spcPts val="1200"/>
              </a:spcBef>
              <a:spcAft>
                <a:spcPts val="1200"/>
              </a:spcAft>
              <a:buNone/>
            </a:pPr>
            <a:r>
              <a:t/>
            </a:r>
            <a:endParaRPr sz="132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0"/>
          <p:cNvSpPr txBox="1"/>
          <p:nvPr>
            <p:ph type="title"/>
          </p:nvPr>
        </p:nvSpPr>
        <p:spPr>
          <a:xfrm>
            <a:off x="819150" y="53495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baseline="30000" lang="en-GB" sz="3111"/>
              <a:t>7. K-Means Clustering (Unsupervised Learning)</a:t>
            </a:r>
            <a:endParaRPr b="1" baseline="30000" sz="3111"/>
          </a:p>
          <a:p>
            <a:pPr indent="0" lvl="0" marL="0" rtl="0" algn="l">
              <a:spcBef>
                <a:spcPts val="0"/>
              </a:spcBef>
              <a:spcAft>
                <a:spcPts val="0"/>
              </a:spcAft>
              <a:buNone/>
            </a:pPr>
            <a:r>
              <a:t/>
            </a:r>
            <a:endParaRPr b="1" baseline="30000" sz="3111"/>
          </a:p>
          <a:p>
            <a:pPr indent="0" lvl="0" marL="0" rtl="0" algn="l">
              <a:spcBef>
                <a:spcPts val="0"/>
              </a:spcBef>
              <a:spcAft>
                <a:spcPts val="0"/>
              </a:spcAft>
              <a:buNone/>
            </a:pPr>
            <a:r>
              <a:t/>
            </a:r>
            <a:endParaRPr b="1" baseline="30000" sz="3111"/>
          </a:p>
          <a:p>
            <a:pPr indent="0" lvl="0" marL="0" rtl="0" algn="l">
              <a:spcBef>
                <a:spcPts val="0"/>
              </a:spcBef>
              <a:spcAft>
                <a:spcPts val="0"/>
              </a:spcAft>
              <a:buNone/>
            </a:pPr>
            <a:r>
              <a:t/>
            </a:r>
            <a:endParaRPr b="1" baseline="30000" sz="3111"/>
          </a:p>
          <a:p>
            <a:pPr indent="0" lvl="0" marL="0" rtl="0" algn="l">
              <a:spcBef>
                <a:spcPts val="0"/>
              </a:spcBef>
              <a:spcAft>
                <a:spcPts val="0"/>
              </a:spcAft>
              <a:buNone/>
            </a:pPr>
            <a:r>
              <a:t/>
            </a:r>
            <a:endParaRPr b="1" baseline="30000" sz="3111"/>
          </a:p>
          <a:p>
            <a:pPr indent="0" lvl="0" marL="0" rtl="0" algn="l">
              <a:spcBef>
                <a:spcPts val="0"/>
              </a:spcBef>
              <a:spcAft>
                <a:spcPts val="0"/>
              </a:spcAft>
              <a:buNone/>
            </a:pPr>
            <a:r>
              <a:t/>
            </a:r>
            <a:endParaRPr b="1" baseline="30000" sz="3111"/>
          </a:p>
          <a:p>
            <a:pPr indent="0" lvl="0" marL="0" rtl="0" algn="l">
              <a:spcBef>
                <a:spcPts val="0"/>
              </a:spcBef>
              <a:spcAft>
                <a:spcPts val="0"/>
              </a:spcAft>
              <a:buNone/>
            </a:pPr>
            <a:r>
              <a:t/>
            </a:r>
            <a:endParaRPr b="1" baseline="30000" sz="3111"/>
          </a:p>
        </p:txBody>
      </p:sp>
      <p:sp>
        <p:nvSpPr>
          <p:cNvPr id="231" name="Google Shape;231;p30"/>
          <p:cNvSpPr txBox="1"/>
          <p:nvPr>
            <p:ph idx="1" type="body"/>
          </p:nvPr>
        </p:nvSpPr>
        <p:spPr>
          <a:xfrm>
            <a:off x="707525" y="1052825"/>
            <a:ext cx="7934400" cy="35772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GB" sz="1320"/>
              <a:t>7.5 Discussion</a:t>
            </a:r>
            <a:endParaRPr sz="1320"/>
          </a:p>
          <a:p>
            <a:pPr indent="0" lvl="0" marL="0" rtl="0" algn="l">
              <a:lnSpc>
                <a:spcPct val="105000"/>
              </a:lnSpc>
              <a:spcBef>
                <a:spcPts val="1200"/>
              </a:spcBef>
              <a:spcAft>
                <a:spcPts val="0"/>
              </a:spcAft>
              <a:buNone/>
            </a:pPr>
            <a:r>
              <a:rPr lang="en-GB" sz="1320"/>
              <a:t>The contrast between K-Means and Logistic Regression highlights an important insight of this project. While Logistic Regression benefits from labeled data and achieves very high classification accuracy, K-Means focuses on data exploration rather than prediction.</a:t>
            </a:r>
            <a:endParaRPr sz="1320"/>
          </a:p>
          <a:p>
            <a:pPr indent="0" lvl="0" marL="0" rtl="0" algn="l">
              <a:lnSpc>
                <a:spcPct val="105000"/>
              </a:lnSpc>
              <a:spcBef>
                <a:spcPts val="1200"/>
              </a:spcBef>
              <a:spcAft>
                <a:spcPts val="0"/>
              </a:spcAft>
              <a:buNone/>
            </a:pPr>
            <a:r>
              <a:rPr lang="en-GB" sz="1320"/>
              <a:t>The moderate Silhouette Score demonstrates that unsupervised clustering alone is insufficient for precise image classification. However, it remains valuable for:</a:t>
            </a:r>
            <a:endParaRPr sz="1320"/>
          </a:p>
          <a:p>
            <a:pPr indent="0" lvl="0" marL="0" rtl="0" algn="l">
              <a:lnSpc>
                <a:spcPct val="105000"/>
              </a:lnSpc>
              <a:spcBef>
                <a:spcPts val="1200"/>
              </a:spcBef>
              <a:spcAft>
                <a:spcPts val="0"/>
              </a:spcAft>
              <a:buNone/>
            </a:pPr>
            <a:r>
              <a:rPr lang="en-GB" sz="1320"/>
              <a:t>Identifying potential data patterns.</a:t>
            </a:r>
            <a:endParaRPr sz="1320"/>
          </a:p>
          <a:p>
            <a:pPr indent="0" lvl="0" marL="0" rtl="0" algn="l">
              <a:lnSpc>
                <a:spcPct val="105000"/>
              </a:lnSpc>
              <a:spcBef>
                <a:spcPts val="1200"/>
              </a:spcBef>
              <a:spcAft>
                <a:spcPts val="0"/>
              </a:spcAft>
              <a:buNone/>
            </a:pPr>
            <a:r>
              <a:rPr lang="en-GB" sz="1320"/>
              <a:t>Detecting similarities and overlaps between classes.Understanding the limitations of distance-based clustering methods on image data.</a:t>
            </a:r>
            <a:endParaRPr sz="1320"/>
          </a:p>
          <a:p>
            <a:pPr indent="0" lvl="0" marL="0" rtl="0" algn="l">
              <a:lnSpc>
                <a:spcPct val="105000"/>
              </a:lnSpc>
              <a:spcBef>
                <a:spcPts val="1200"/>
              </a:spcBef>
              <a:spcAft>
                <a:spcPts val="1200"/>
              </a:spcAft>
              <a:buNone/>
            </a:pPr>
            <a:r>
              <a:t/>
            </a:r>
            <a:endParaRPr sz="132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1"/>
          <p:cNvSpPr txBox="1"/>
          <p:nvPr>
            <p:ph type="title"/>
          </p:nvPr>
        </p:nvSpPr>
        <p:spPr>
          <a:xfrm>
            <a:off x="819150" y="53495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baseline="30000" lang="en-GB" sz="3111"/>
              <a:t>8. Comparison Between Logistic Regression and K-Means</a:t>
            </a:r>
            <a:endParaRPr b="1" baseline="30000" sz="3111"/>
          </a:p>
          <a:p>
            <a:pPr indent="0" lvl="0" marL="0" rtl="0" algn="l">
              <a:spcBef>
                <a:spcPts val="0"/>
              </a:spcBef>
              <a:spcAft>
                <a:spcPts val="0"/>
              </a:spcAft>
              <a:buNone/>
            </a:pPr>
            <a:r>
              <a:t/>
            </a:r>
            <a:endParaRPr b="1" baseline="30000" sz="3111"/>
          </a:p>
          <a:p>
            <a:pPr indent="0" lvl="0" marL="0" rtl="0" algn="l">
              <a:spcBef>
                <a:spcPts val="0"/>
              </a:spcBef>
              <a:spcAft>
                <a:spcPts val="0"/>
              </a:spcAft>
              <a:buNone/>
            </a:pPr>
            <a:r>
              <a:t/>
            </a:r>
            <a:endParaRPr b="1" baseline="30000" sz="3111"/>
          </a:p>
          <a:p>
            <a:pPr indent="0" lvl="0" marL="0" rtl="0" algn="l">
              <a:spcBef>
                <a:spcPts val="0"/>
              </a:spcBef>
              <a:spcAft>
                <a:spcPts val="0"/>
              </a:spcAft>
              <a:buNone/>
            </a:pPr>
            <a:r>
              <a:t/>
            </a:r>
            <a:endParaRPr b="1" baseline="30000" sz="3111"/>
          </a:p>
          <a:p>
            <a:pPr indent="0" lvl="0" marL="0" rtl="0" algn="l">
              <a:spcBef>
                <a:spcPts val="0"/>
              </a:spcBef>
              <a:spcAft>
                <a:spcPts val="0"/>
              </a:spcAft>
              <a:buNone/>
            </a:pPr>
            <a:r>
              <a:t/>
            </a:r>
            <a:endParaRPr b="1" baseline="30000" sz="3111"/>
          </a:p>
          <a:p>
            <a:pPr indent="0" lvl="0" marL="0" rtl="0" algn="l">
              <a:spcBef>
                <a:spcPts val="0"/>
              </a:spcBef>
              <a:spcAft>
                <a:spcPts val="0"/>
              </a:spcAft>
              <a:buNone/>
            </a:pPr>
            <a:r>
              <a:t/>
            </a:r>
            <a:endParaRPr b="1" baseline="30000" sz="3111"/>
          </a:p>
          <a:p>
            <a:pPr indent="0" lvl="0" marL="0" rtl="0" algn="l">
              <a:spcBef>
                <a:spcPts val="0"/>
              </a:spcBef>
              <a:spcAft>
                <a:spcPts val="0"/>
              </a:spcAft>
              <a:buNone/>
            </a:pPr>
            <a:r>
              <a:t/>
            </a:r>
            <a:endParaRPr b="1" baseline="30000" sz="3111"/>
          </a:p>
          <a:p>
            <a:pPr indent="0" lvl="0" marL="0" rtl="0" algn="l">
              <a:spcBef>
                <a:spcPts val="0"/>
              </a:spcBef>
              <a:spcAft>
                <a:spcPts val="0"/>
              </a:spcAft>
              <a:buNone/>
            </a:pPr>
            <a:r>
              <a:t/>
            </a:r>
            <a:endParaRPr b="1" baseline="30000" sz="3111"/>
          </a:p>
          <a:p>
            <a:pPr indent="0" lvl="0" marL="0" rtl="0" algn="l">
              <a:spcBef>
                <a:spcPts val="0"/>
              </a:spcBef>
              <a:spcAft>
                <a:spcPts val="0"/>
              </a:spcAft>
              <a:buNone/>
            </a:pPr>
            <a:r>
              <a:t/>
            </a:r>
            <a:endParaRPr b="1" baseline="30000" sz="3111"/>
          </a:p>
        </p:txBody>
      </p:sp>
      <p:pic>
        <p:nvPicPr>
          <p:cNvPr id="237" name="Google Shape;237;p31"/>
          <p:cNvPicPr preferRelativeResize="0"/>
          <p:nvPr/>
        </p:nvPicPr>
        <p:blipFill>
          <a:blip r:embed="rId3">
            <a:alphaModFix/>
          </a:blip>
          <a:stretch>
            <a:fillRect/>
          </a:stretch>
        </p:blipFill>
        <p:spPr>
          <a:xfrm>
            <a:off x="1467100" y="1074825"/>
            <a:ext cx="6209800" cy="32275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2"/>
          <p:cNvSpPr txBox="1"/>
          <p:nvPr>
            <p:ph type="title"/>
          </p:nvPr>
        </p:nvSpPr>
        <p:spPr>
          <a:xfrm>
            <a:off x="819150" y="53495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baseline="30000" lang="en-GB" sz="3111"/>
              <a:t>9.Limitations</a:t>
            </a:r>
            <a:endParaRPr b="1" baseline="30000" sz="3111"/>
          </a:p>
          <a:p>
            <a:pPr indent="0" lvl="0" marL="0" rtl="0" algn="l">
              <a:spcBef>
                <a:spcPts val="0"/>
              </a:spcBef>
              <a:spcAft>
                <a:spcPts val="0"/>
              </a:spcAft>
              <a:buNone/>
            </a:pPr>
            <a:r>
              <a:t/>
            </a:r>
            <a:endParaRPr b="1" baseline="30000" sz="3111"/>
          </a:p>
          <a:p>
            <a:pPr indent="0" lvl="0" marL="0" rtl="0" algn="l">
              <a:spcBef>
                <a:spcPts val="0"/>
              </a:spcBef>
              <a:spcAft>
                <a:spcPts val="0"/>
              </a:spcAft>
              <a:buNone/>
            </a:pPr>
            <a:r>
              <a:t/>
            </a:r>
            <a:endParaRPr b="1" baseline="30000" sz="3111"/>
          </a:p>
          <a:p>
            <a:pPr indent="0" lvl="0" marL="0" rtl="0" algn="l">
              <a:spcBef>
                <a:spcPts val="0"/>
              </a:spcBef>
              <a:spcAft>
                <a:spcPts val="0"/>
              </a:spcAft>
              <a:buNone/>
            </a:pPr>
            <a:r>
              <a:t/>
            </a:r>
            <a:endParaRPr b="1" baseline="30000" sz="3111"/>
          </a:p>
          <a:p>
            <a:pPr indent="0" lvl="0" marL="0" rtl="0" algn="l">
              <a:spcBef>
                <a:spcPts val="0"/>
              </a:spcBef>
              <a:spcAft>
                <a:spcPts val="0"/>
              </a:spcAft>
              <a:buNone/>
            </a:pPr>
            <a:r>
              <a:t/>
            </a:r>
            <a:endParaRPr b="1" baseline="30000" sz="3111"/>
          </a:p>
          <a:p>
            <a:pPr indent="0" lvl="0" marL="0" rtl="0" algn="l">
              <a:spcBef>
                <a:spcPts val="0"/>
              </a:spcBef>
              <a:spcAft>
                <a:spcPts val="0"/>
              </a:spcAft>
              <a:buNone/>
            </a:pPr>
            <a:r>
              <a:t/>
            </a:r>
            <a:endParaRPr b="1" baseline="30000" sz="3111"/>
          </a:p>
          <a:p>
            <a:pPr indent="0" lvl="0" marL="0" rtl="0" algn="l">
              <a:spcBef>
                <a:spcPts val="0"/>
              </a:spcBef>
              <a:spcAft>
                <a:spcPts val="0"/>
              </a:spcAft>
              <a:buNone/>
            </a:pPr>
            <a:r>
              <a:t/>
            </a:r>
            <a:endParaRPr b="1" baseline="30000" sz="3111"/>
          </a:p>
          <a:p>
            <a:pPr indent="0" lvl="0" marL="0" rtl="0" algn="l">
              <a:spcBef>
                <a:spcPts val="0"/>
              </a:spcBef>
              <a:spcAft>
                <a:spcPts val="0"/>
              </a:spcAft>
              <a:buNone/>
            </a:pPr>
            <a:r>
              <a:t/>
            </a:r>
            <a:endParaRPr b="1" baseline="30000" sz="3111"/>
          </a:p>
          <a:p>
            <a:pPr indent="0" lvl="0" marL="0" rtl="0" algn="l">
              <a:spcBef>
                <a:spcPts val="0"/>
              </a:spcBef>
              <a:spcAft>
                <a:spcPts val="0"/>
              </a:spcAft>
              <a:buNone/>
            </a:pPr>
            <a:r>
              <a:t/>
            </a:r>
            <a:endParaRPr b="1" baseline="30000" sz="3111"/>
          </a:p>
        </p:txBody>
      </p:sp>
      <p:sp>
        <p:nvSpPr>
          <p:cNvPr id="243" name="Google Shape;243;p32"/>
          <p:cNvSpPr txBox="1"/>
          <p:nvPr>
            <p:ph idx="1" type="body"/>
          </p:nvPr>
        </p:nvSpPr>
        <p:spPr>
          <a:xfrm>
            <a:off x="707525" y="1052825"/>
            <a:ext cx="7934400" cy="35772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GB" sz="1320"/>
              <a:t>​Spatial Relationships: One major limitation is that flattening pixel features into a one-dimensional vector fails to capture the spatial relationships and local patterns within the image.  </a:t>
            </a:r>
            <a:endParaRPr sz="1320"/>
          </a:p>
          <a:p>
            <a:pPr indent="0" lvl="0" marL="0" rtl="0" algn="l">
              <a:lnSpc>
                <a:spcPct val="105000"/>
              </a:lnSpc>
              <a:spcBef>
                <a:spcPts val="1200"/>
              </a:spcBef>
              <a:spcAft>
                <a:spcPts val="0"/>
              </a:spcAft>
              <a:buNone/>
            </a:pPr>
            <a:r>
              <a:rPr lang="en-GB" sz="1320"/>
              <a:t>​Environmental Factors: The dataset is highly controlled with plain backgrounds and consistent lighting, which does not reflect the complexity of real-world image conditions.  </a:t>
            </a:r>
            <a:endParaRPr sz="1320"/>
          </a:p>
          <a:p>
            <a:pPr indent="0" lvl="0" marL="0" rtl="0" algn="l">
              <a:lnSpc>
                <a:spcPct val="105000"/>
              </a:lnSpc>
              <a:spcBef>
                <a:spcPts val="1200"/>
              </a:spcBef>
              <a:spcAft>
                <a:spcPts val="0"/>
              </a:spcAft>
              <a:buNone/>
            </a:pPr>
            <a:r>
              <a:rPr lang="en-GB" sz="1320"/>
              <a:t>​Color Information: The conversion to grayscale, while reducing computational complexity, removes vital color information that could potentially improve classification accuracy for certain fruits.</a:t>
            </a:r>
            <a:endParaRPr sz="1320"/>
          </a:p>
          <a:p>
            <a:pPr indent="0" lvl="0" marL="0" rtl="0" algn="l">
              <a:lnSpc>
                <a:spcPct val="105000"/>
              </a:lnSpc>
              <a:spcBef>
                <a:spcPts val="1200"/>
              </a:spcBef>
              <a:spcAft>
                <a:spcPts val="1200"/>
              </a:spcAft>
              <a:buNone/>
            </a:pPr>
            <a:r>
              <a:t/>
            </a:r>
            <a:endParaRPr sz="132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type="title"/>
          </p:nvPr>
        </p:nvSpPr>
        <p:spPr>
          <a:xfrm>
            <a:off x="819150" y="53495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baseline="30000" lang="en-GB" sz="3111"/>
              <a:t>10. Future Work</a:t>
            </a:r>
            <a:endParaRPr b="1" baseline="30000" sz="3111"/>
          </a:p>
          <a:p>
            <a:pPr indent="0" lvl="0" marL="0" rtl="0" algn="l">
              <a:spcBef>
                <a:spcPts val="0"/>
              </a:spcBef>
              <a:spcAft>
                <a:spcPts val="0"/>
              </a:spcAft>
              <a:buNone/>
            </a:pPr>
            <a:r>
              <a:t/>
            </a:r>
            <a:endParaRPr b="1" baseline="30000" sz="3111"/>
          </a:p>
          <a:p>
            <a:pPr indent="0" lvl="0" marL="0" rtl="0" algn="l">
              <a:spcBef>
                <a:spcPts val="0"/>
              </a:spcBef>
              <a:spcAft>
                <a:spcPts val="0"/>
              </a:spcAft>
              <a:buNone/>
            </a:pPr>
            <a:r>
              <a:t/>
            </a:r>
            <a:endParaRPr b="1" baseline="30000" sz="3111"/>
          </a:p>
          <a:p>
            <a:pPr indent="0" lvl="0" marL="0" rtl="0" algn="l">
              <a:spcBef>
                <a:spcPts val="0"/>
              </a:spcBef>
              <a:spcAft>
                <a:spcPts val="0"/>
              </a:spcAft>
              <a:buNone/>
            </a:pPr>
            <a:r>
              <a:t/>
            </a:r>
            <a:endParaRPr b="1" baseline="30000" sz="3111"/>
          </a:p>
          <a:p>
            <a:pPr indent="0" lvl="0" marL="0" rtl="0" algn="l">
              <a:spcBef>
                <a:spcPts val="0"/>
              </a:spcBef>
              <a:spcAft>
                <a:spcPts val="0"/>
              </a:spcAft>
              <a:buNone/>
            </a:pPr>
            <a:r>
              <a:t/>
            </a:r>
            <a:endParaRPr b="1" baseline="30000" sz="3111"/>
          </a:p>
          <a:p>
            <a:pPr indent="0" lvl="0" marL="0" rtl="0" algn="l">
              <a:spcBef>
                <a:spcPts val="0"/>
              </a:spcBef>
              <a:spcAft>
                <a:spcPts val="0"/>
              </a:spcAft>
              <a:buNone/>
            </a:pPr>
            <a:r>
              <a:t/>
            </a:r>
            <a:endParaRPr b="1" baseline="30000" sz="3111"/>
          </a:p>
          <a:p>
            <a:pPr indent="0" lvl="0" marL="0" rtl="0" algn="l">
              <a:spcBef>
                <a:spcPts val="0"/>
              </a:spcBef>
              <a:spcAft>
                <a:spcPts val="0"/>
              </a:spcAft>
              <a:buNone/>
            </a:pPr>
            <a:r>
              <a:t/>
            </a:r>
            <a:endParaRPr b="1" baseline="30000" sz="3111"/>
          </a:p>
          <a:p>
            <a:pPr indent="0" lvl="0" marL="0" rtl="0" algn="l">
              <a:spcBef>
                <a:spcPts val="0"/>
              </a:spcBef>
              <a:spcAft>
                <a:spcPts val="0"/>
              </a:spcAft>
              <a:buNone/>
            </a:pPr>
            <a:r>
              <a:t/>
            </a:r>
            <a:endParaRPr b="1" baseline="30000" sz="3111"/>
          </a:p>
          <a:p>
            <a:pPr indent="0" lvl="0" marL="0" rtl="0" algn="l">
              <a:spcBef>
                <a:spcPts val="0"/>
              </a:spcBef>
              <a:spcAft>
                <a:spcPts val="0"/>
              </a:spcAft>
              <a:buNone/>
            </a:pPr>
            <a:r>
              <a:t/>
            </a:r>
            <a:endParaRPr b="1" baseline="30000" sz="3111"/>
          </a:p>
          <a:p>
            <a:pPr indent="0" lvl="0" marL="0" rtl="0" algn="l">
              <a:spcBef>
                <a:spcPts val="0"/>
              </a:spcBef>
              <a:spcAft>
                <a:spcPts val="0"/>
              </a:spcAft>
              <a:buNone/>
            </a:pPr>
            <a:r>
              <a:t/>
            </a:r>
            <a:endParaRPr b="1" baseline="30000" sz="3111"/>
          </a:p>
          <a:p>
            <a:pPr indent="0" lvl="0" marL="0" rtl="0" algn="l">
              <a:spcBef>
                <a:spcPts val="0"/>
              </a:spcBef>
              <a:spcAft>
                <a:spcPts val="0"/>
              </a:spcAft>
              <a:buNone/>
            </a:pPr>
            <a:r>
              <a:t/>
            </a:r>
            <a:endParaRPr b="1" baseline="30000" sz="3111"/>
          </a:p>
          <a:p>
            <a:pPr indent="0" lvl="0" marL="0" rtl="0" algn="l">
              <a:spcBef>
                <a:spcPts val="0"/>
              </a:spcBef>
              <a:spcAft>
                <a:spcPts val="0"/>
              </a:spcAft>
              <a:buNone/>
            </a:pPr>
            <a:r>
              <a:t/>
            </a:r>
            <a:endParaRPr b="1" baseline="30000" sz="3111"/>
          </a:p>
          <a:p>
            <a:pPr indent="0" lvl="0" marL="0" rtl="0" algn="l">
              <a:spcBef>
                <a:spcPts val="0"/>
              </a:spcBef>
              <a:spcAft>
                <a:spcPts val="0"/>
              </a:spcAft>
              <a:buNone/>
            </a:pPr>
            <a:r>
              <a:t/>
            </a:r>
            <a:endParaRPr b="1" baseline="30000" sz="3111"/>
          </a:p>
        </p:txBody>
      </p:sp>
      <p:sp>
        <p:nvSpPr>
          <p:cNvPr id="249" name="Google Shape;249;p33"/>
          <p:cNvSpPr txBox="1"/>
          <p:nvPr>
            <p:ph idx="1" type="body"/>
          </p:nvPr>
        </p:nvSpPr>
        <p:spPr>
          <a:xfrm>
            <a:off x="707525" y="1052825"/>
            <a:ext cx="7934400" cy="35772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GB" sz="1320"/>
              <a:t>Potential improvements include:</a:t>
            </a:r>
            <a:endParaRPr sz="1320"/>
          </a:p>
          <a:p>
            <a:pPr indent="-312420" lvl="0" marL="457200" rtl="0" algn="l">
              <a:lnSpc>
                <a:spcPct val="105000"/>
              </a:lnSpc>
              <a:spcBef>
                <a:spcPts val="1200"/>
              </a:spcBef>
              <a:spcAft>
                <a:spcPts val="0"/>
              </a:spcAft>
              <a:buSzPts val="1320"/>
              <a:buChar char="●"/>
            </a:pPr>
            <a:r>
              <a:rPr lang="en-GB" sz="1320"/>
              <a:t>Using color-based features or handcrafted descriptors</a:t>
            </a:r>
            <a:endParaRPr sz="1320"/>
          </a:p>
          <a:p>
            <a:pPr indent="-312420" lvl="0" marL="457200" rtl="0" algn="l">
              <a:lnSpc>
                <a:spcPct val="105000"/>
              </a:lnSpc>
              <a:spcBef>
                <a:spcPts val="0"/>
              </a:spcBef>
              <a:spcAft>
                <a:spcPts val="0"/>
              </a:spcAft>
              <a:buSzPts val="1320"/>
              <a:buChar char="●"/>
            </a:pPr>
            <a:r>
              <a:rPr lang="en-GB" sz="1320"/>
              <a:t>Applying convolutional neural networks (CNNs)</a:t>
            </a:r>
            <a:endParaRPr sz="1320"/>
          </a:p>
          <a:p>
            <a:pPr indent="-312420" lvl="0" marL="457200" rtl="0" algn="l">
              <a:lnSpc>
                <a:spcPct val="105000"/>
              </a:lnSpc>
              <a:spcBef>
                <a:spcPts val="0"/>
              </a:spcBef>
              <a:spcAft>
                <a:spcPts val="0"/>
              </a:spcAft>
              <a:buSzPts val="1320"/>
              <a:buChar char="●"/>
            </a:pPr>
            <a:r>
              <a:rPr lang="en-GB" sz="1320"/>
              <a:t>Testing the model on real-world images with complex backgrounds</a:t>
            </a:r>
            <a:endParaRPr sz="1320"/>
          </a:p>
          <a:p>
            <a:pPr indent="-312420" lvl="0" marL="457200" rtl="0" algn="l">
              <a:lnSpc>
                <a:spcPct val="105000"/>
              </a:lnSpc>
              <a:spcBef>
                <a:spcPts val="0"/>
              </a:spcBef>
              <a:spcAft>
                <a:spcPts val="0"/>
              </a:spcAft>
              <a:buSzPts val="1320"/>
              <a:buChar char="●"/>
            </a:pPr>
            <a:r>
              <a:rPr lang="en-GB" sz="1320"/>
              <a:t>Exploring other dimensionality reduction techniques</a:t>
            </a:r>
            <a:endParaRPr sz="1320"/>
          </a:p>
          <a:p>
            <a:pPr indent="0" lvl="0" marL="0" rtl="0" algn="l">
              <a:lnSpc>
                <a:spcPct val="105000"/>
              </a:lnSpc>
              <a:spcBef>
                <a:spcPts val="1200"/>
              </a:spcBef>
              <a:spcAft>
                <a:spcPts val="1200"/>
              </a:spcAft>
              <a:buNone/>
            </a:pPr>
            <a:r>
              <a:t/>
            </a:r>
            <a:endParaRPr sz="132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4"/>
          <p:cNvSpPr txBox="1"/>
          <p:nvPr>
            <p:ph type="title"/>
          </p:nvPr>
        </p:nvSpPr>
        <p:spPr>
          <a:xfrm>
            <a:off x="819150" y="53495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baseline="30000" lang="en-GB" sz="3111"/>
              <a:t>11.Conclusion</a:t>
            </a:r>
            <a:endParaRPr b="1" baseline="30000" sz="3111"/>
          </a:p>
          <a:p>
            <a:pPr indent="0" lvl="0" marL="0" rtl="0" algn="l">
              <a:spcBef>
                <a:spcPts val="0"/>
              </a:spcBef>
              <a:spcAft>
                <a:spcPts val="0"/>
              </a:spcAft>
              <a:buNone/>
            </a:pPr>
            <a:r>
              <a:t/>
            </a:r>
            <a:endParaRPr b="1" baseline="30000" sz="3111"/>
          </a:p>
          <a:p>
            <a:pPr indent="0" lvl="0" marL="0" rtl="0" algn="l">
              <a:spcBef>
                <a:spcPts val="0"/>
              </a:spcBef>
              <a:spcAft>
                <a:spcPts val="0"/>
              </a:spcAft>
              <a:buNone/>
            </a:pPr>
            <a:r>
              <a:t/>
            </a:r>
            <a:endParaRPr b="1" baseline="30000" sz="3111"/>
          </a:p>
          <a:p>
            <a:pPr indent="0" lvl="0" marL="0" rtl="0" algn="l">
              <a:spcBef>
                <a:spcPts val="0"/>
              </a:spcBef>
              <a:spcAft>
                <a:spcPts val="0"/>
              </a:spcAft>
              <a:buNone/>
            </a:pPr>
            <a:r>
              <a:t/>
            </a:r>
            <a:endParaRPr b="1" baseline="30000" sz="3111"/>
          </a:p>
          <a:p>
            <a:pPr indent="0" lvl="0" marL="0" rtl="0" algn="l">
              <a:spcBef>
                <a:spcPts val="0"/>
              </a:spcBef>
              <a:spcAft>
                <a:spcPts val="0"/>
              </a:spcAft>
              <a:buNone/>
            </a:pPr>
            <a:r>
              <a:t/>
            </a:r>
            <a:endParaRPr b="1" baseline="30000" sz="3111"/>
          </a:p>
          <a:p>
            <a:pPr indent="0" lvl="0" marL="0" rtl="0" algn="l">
              <a:spcBef>
                <a:spcPts val="0"/>
              </a:spcBef>
              <a:spcAft>
                <a:spcPts val="0"/>
              </a:spcAft>
              <a:buNone/>
            </a:pPr>
            <a:r>
              <a:t/>
            </a:r>
            <a:endParaRPr b="1" baseline="30000" sz="3111"/>
          </a:p>
          <a:p>
            <a:pPr indent="0" lvl="0" marL="0" rtl="0" algn="l">
              <a:spcBef>
                <a:spcPts val="0"/>
              </a:spcBef>
              <a:spcAft>
                <a:spcPts val="0"/>
              </a:spcAft>
              <a:buNone/>
            </a:pPr>
            <a:r>
              <a:t/>
            </a:r>
            <a:endParaRPr b="1" baseline="30000" sz="3111"/>
          </a:p>
          <a:p>
            <a:pPr indent="0" lvl="0" marL="0" rtl="0" algn="l">
              <a:spcBef>
                <a:spcPts val="0"/>
              </a:spcBef>
              <a:spcAft>
                <a:spcPts val="0"/>
              </a:spcAft>
              <a:buNone/>
            </a:pPr>
            <a:r>
              <a:t/>
            </a:r>
            <a:endParaRPr b="1" baseline="30000" sz="3111"/>
          </a:p>
          <a:p>
            <a:pPr indent="0" lvl="0" marL="0" rtl="0" algn="l">
              <a:spcBef>
                <a:spcPts val="0"/>
              </a:spcBef>
              <a:spcAft>
                <a:spcPts val="0"/>
              </a:spcAft>
              <a:buNone/>
            </a:pPr>
            <a:r>
              <a:t/>
            </a:r>
            <a:endParaRPr b="1" baseline="30000" sz="3111"/>
          </a:p>
          <a:p>
            <a:pPr indent="0" lvl="0" marL="0" rtl="0" algn="l">
              <a:spcBef>
                <a:spcPts val="0"/>
              </a:spcBef>
              <a:spcAft>
                <a:spcPts val="0"/>
              </a:spcAft>
              <a:buNone/>
            </a:pPr>
            <a:r>
              <a:t/>
            </a:r>
            <a:endParaRPr b="1" baseline="30000" sz="3111"/>
          </a:p>
          <a:p>
            <a:pPr indent="0" lvl="0" marL="0" rtl="0" algn="l">
              <a:spcBef>
                <a:spcPts val="0"/>
              </a:spcBef>
              <a:spcAft>
                <a:spcPts val="0"/>
              </a:spcAft>
              <a:buNone/>
            </a:pPr>
            <a:r>
              <a:t/>
            </a:r>
            <a:endParaRPr b="1" baseline="30000" sz="3111"/>
          </a:p>
        </p:txBody>
      </p:sp>
      <p:sp>
        <p:nvSpPr>
          <p:cNvPr id="255" name="Google Shape;255;p34"/>
          <p:cNvSpPr txBox="1"/>
          <p:nvPr>
            <p:ph idx="1" type="body"/>
          </p:nvPr>
        </p:nvSpPr>
        <p:spPr>
          <a:xfrm>
            <a:off x="707525" y="1052825"/>
            <a:ext cx="7934400" cy="35772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GB" sz="1320"/>
              <a:t>​Summary of Results: This project successfully demonstrated that classical machine learning algorithms can achieve high performance when combined with appropriate preprocessing and dimensionality reduction techniques.  </a:t>
            </a:r>
            <a:endParaRPr sz="1320"/>
          </a:p>
          <a:p>
            <a:pPr indent="0" lvl="0" marL="0" rtl="0" algn="l">
              <a:lnSpc>
                <a:spcPct val="105000"/>
              </a:lnSpc>
              <a:spcBef>
                <a:spcPts val="1200"/>
              </a:spcBef>
              <a:spcAft>
                <a:spcPts val="0"/>
              </a:spcAft>
              <a:buNone/>
            </a:pPr>
            <a:r>
              <a:rPr lang="en-GB" sz="1320"/>
              <a:t>​Model Performance: Logistic Regression achieved excellent accuracy after PCA, while K-Means provided valuable insights into the intrinsic structure of the data.  </a:t>
            </a:r>
            <a:endParaRPr sz="1320"/>
          </a:p>
          <a:p>
            <a:pPr indent="0" lvl="0" marL="0" rtl="0" algn="l">
              <a:lnSpc>
                <a:spcPct val="105000"/>
              </a:lnSpc>
              <a:spcBef>
                <a:spcPts val="1200"/>
              </a:spcBef>
              <a:spcAft>
                <a:spcPts val="0"/>
              </a:spcAft>
              <a:buNone/>
            </a:pPr>
            <a:r>
              <a:rPr lang="en-GB" sz="1320"/>
              <a:t>​Final Insight: The comparison underscores the necessity of supervised learning for high-precision classification tasks and provides a solid foundation for future transitions toward advanced deep learning models.</a:t>
            </a:r>
            <a:endParaRPr sz="1320"/>
          </a:p>
          <a:p>
            <a:pPr indent="0" lvl="0" marL="0" rtl="0" algn="l">
              <a:lnSpc>
                <a:spcPct val="105000"/>
              </a:lnSpc>
              <a:spcBef>
                <a:spcPts val="1200"/>
              </a:spcBef>
              <a:spcAft>
                <a:spcPts val="1200"/>
              </a:spcAft>
              <a:buNone/>
            </a:pPr>
            <a:r>
              <a:t/>
            </a:r>
            <a:endParaRPr sz="132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